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276" r:id="rId3"/>
    <p:sldId id="258" r:id="rId4"/>
    <p:sldId id="259" r:id="rId5"/>
    <p:sldId id="287" r:id="rId6"/>
    <p:sldId id="288" r:id="rId7"/>
    <p:sldId id="289" r:id="rId8"/>
    <p:sldId id="304" r:id="rId9"/>
    <p:sldId id="264" r:id="rId10"/>
    <p:sldId id="265" r:id="rId11"/>
    <p:sldId id="277" r:id="rId12"/>
    <p:sldId id="281" r:id="rId13"/>
    <p:sldId id="266" r:id="rId14"/>
    <p:sldId id="279" r:id="rId15"/>
    <p:sldId id="290" r:id="rId16"/>
    <p:sldId id="291" r:id="rId17"/>
    <p:sldId id="292" r:id="rId18"/>
    <p:sldId id="283" r:id="rId19"/>
    <p:sldId id="293" r:id="rId20"/>
    <p:sldId id="294" r:id="rId21"/>
    <p:sldId id="295" r:id="rId22"/>
    <p:sldId id="296" r:id="rId23"/>
    <p:sldId id="297" r:id="rId24"/>
    <p:sldId id="298" r:id="rId25"/>
    <p:sldId id="299" r:id="rId26"/>
    <p:sldId id="300" r:id="rId27"/>
    <p:sldId id="301" r:id="rId28"/>
    <p:sldId id="302" r:id="rId29"/>
    <p:sldId id="303" r:id="rId30"/>
    <p:sldId id="313" r:id="rId31"/>
    <p:sldId id="314" r:id="rId32"/>
    <p:sldId id="305" r:id="rId33"/>
    <p:sldId id="306" r:id="rId34"/>
    <p:sldId id="307" r:id="rId35"/>
    <p:sldId id="308" r:id="rId36"/>
    <p:sldId id="309" r:id="rId37"/>
    <p:sldId id="310" r:id="rId38"/>
    <p:sldId id="311" r:id="rId39"/>
    <p:sldId id="312" r:id="rId40"/>
    <p:sldId id="315" r:id="rId41"/>
    <p:sldId id="317" r:id="rId42"/>
    <p:sldId id="316" r:id="rId43"/>
    <p:sldId id="319" r:id="rId44"/>
    <p:sldId id="286" r:id="rId45"/>
    <p:sldId id="273" r:id="rId46"/>
    <p:sldId id="275" r:id="rId47"/>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91503" autoAdjust="0"/>
  </p:normalViewPr>
  <p:slideViewPr>
    <p:cSldViewPr snapToGrid="0">
      <p:cViewPr varScale="1">
        <p:scale>
          <a:sx n="75" d="100"/>
          <a:sy n="75" d="100"/>
        </p:scale>
        <p:origin x="10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B0D29-6D28-451C-A083-E699B89F2B36}" type="datetimeFigureOut">
              <a:rPr lang="en-IN" smtClean="0"/>
              <a:t>11-06-2026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8D921-2779-44E2-B9B6-AD74864B96F8}" type="slidenum">
              <a:rPr lang="en-IN" smtClean="0"/>
              <a:t>‹#›</a:t>
            </a:fld>
            <a:endParaRPr lang="en-IN"/>
          </a:p>
        </p:txBody>
      </p:sp>
    </p:spTree>
    <p:extLst>
      <p:ext uri="{BB962C8B-B14F-4D97-AF65-F5344CB8AC3E}">
        <p14:creationId xmlns:p14="http://schemas.microsoft.com/office/powerpoint/2010/main" val="300599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58D921-2779-44E2-B9B6-AD74864B96F8}" type="slidenum">
              <a:rPr lang="en-IN" smtClean="0"/>
              <a:t>3</a:t>
            </a:fld>
            <a:endParaRPr lang="en-IN"/>
          </a:p>
        </p:txBody>
      </p:sp>
    </p:spTree>
    <p:extLst>
      <p:ext uri="{BB962C8B-B14F-4D97-AF65-F5344CB8AC3E}">
        <p14:creationId xmlns:p14="http://schemas.microsoft.com/office/powerpoint/2010/main" val="1115088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58D921-2779-44E2-B9B6-AD74864B96F8}" type="slidenum">
              <a:rPr lang="en-IN" smtClean="0"/>
              <a:t>10</a:t>
            </a:fld>
            <a:endParaRPr lang="en-IN"/>
          </a:p>
        </p:txBody>
      </p:sp>
    </p:spTree>
    <p:extLst>
      <p:ext uri="{BB962C8B-B14F-4D97-AF65-F5344CB8AC3E}">
        <p14:creationId xmlns:p14="http://schemas.microsoft.com/office/powerpoint/2010/main" val="3719994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58D921-2779-44E2-B9B6-AD74864B96F8}" type="slidenum">
              <a:rPr lang="en-IN" smtClean="0"/>
              <a:t>39</a:t>
            </a:fld>
            <a:endParaRPr lang="en-IN"/>
          </a:p>
        </p:txBody>
      </p:sp>
    </p:spTree>
    <p:extLst>
      <p:ext uri="{BB962C8B-B14F-4D97-AF65-F5344CB8AC3E}">
        <p14:creationId xmlns:p14="http://schemas.microsoft.com/office/powerpoint/2010/main" val="1390456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ADD4-96BA-0EE2-DE7E-218004EC45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89915A-6E73-FC4E-9E84-2BCD6ABF05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F6DDA0-B4AC-3446-B64A-B76AD412E856}"/>
              </a:ext>
            </a:extLst>
          </p:cNvPr>
          <p:cNvSpPr>
            <a:spLocks noGrp="1"/>
          </p:cNvSpPr>
          <p:nvPr>
            <p:ph type="dt" sz="half" idx="10"/>
          </p:nvPr>
        </p:nvSpPr>
        <p:spPr/>
        <p:txBody>
          <a:bodyPr/>
          <a:lstStyle/>
          <a:p>
            <a:fld id="{624DBF76-A419-43AE-8286-25D6EF6C9E43}" type="datetime1">
              <a:rPr lang="en-IN" smtClean="0"/>
              <a:t>11-06-2026</a:t>
            </a:fld>
            <a:endParaRPr lang="en-IN" dirty="0"/>
          </a:p>
        </p:txBody>
      </p:sp>
      <p:sp>
        <p:nvSpPr>
          <p:cNvPr id="5" name="Footer Placeholder 4">
            <a:extLst>
              <a:ext uri="{FF2B5EF4-FFF2-40B4-BE49-F238E27FC236}">
                <a16:creationId xmlns:a16="http://schemas.microsoft.com/office/drawing/2014/main" id="{4CF26A66-4E8F-00A8-34FA-9E998180E0E1}"/>
              </a:ext>
            </a:extLst>
          </p:cNvPr>
          <p:cNvSpPr>
            <a:spLocks noGrp="1"/>
          </p:cNvSpPr>
          <p:nvPr>
            <p:ph type="ftr" sz="quarter" idx="11"/>
          </p:nvPr>
        </p:nvSpPr>
        <p:spPr/>
        <p:txBody>
          <a:bodyPr/>
          <a:lstStyle/>
          <a:p>
            <a:r>
              <a:rPr lang="en-IN"/>
              <a:t>SCTR’s PICT, Pune</a:t>
            </a:r>
          </a:p>
        </p:txBody>
      </p:sp>
      <p:sp>
        <p:nvSpPr>
          <p:cNvPr id="6" name="Slide Number Placeholder 5">
            <a:extLst>
              <a:ext uri="{FF2B5EF4-FFF2-40B4-BE49-F238E27FC236}">
                <a16:creationId xmlns:a16="http://schemas.microsoft.com/office/drawing/2014/main" id="{C9EE345F-61D2-480A-EAE9-619151F08879}"/>
              </a:ext>
            </a:extLst>
          </p:cNvPr>
          <p:cNvSpPr>
            <a:spLocks noGrp="1"/>
          </p:cNvSpPr>
          <p:nvPr>
            <p:ph type="sldNum" sz="quarter" idx="12"/>
          </p:nvPr>
        </p:nvSpPr>
        <p:spPr/>
        <p:txBody>
          <a:bodyPr/>
          <a:lstStyle/>
          <a:p>
            <a:fld id="{5B1B64FC-C0C6-4D40-9891-AD39CFB51AC3}" type="slidenum">
              <a:rPr lang="en-IN" smtClean="0"/>
              <a:t>‹#›</a:t>
            </a:fld>
            <a:endParaRPr lang="en-IN" dirty="0"/>
          </a:p>
        </p:txBody>
      </p:sp>
    </p:spTree>
    <p:extLst>
      <p:ext uri="{BB962C8B-B14F-4D97-AF65-F5344CB8AC3E}">
        <p14:creationId xmlns:p14="http://schemas.microsoft.com/office/powerpoint/2010/main" val="858914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07AEB-9C18-A61B-1D87-8F68640D71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4A2870-9E27-CECA-F4F6-BC46A9F07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123BD-DEF9-AACA-04C1-A50F7CEC333A}"/>
              </a:ext>
            </a:extLst>
          </p:cNvPr>
          <p:cNvSpPr>
            <a:spLocks noGrp="1"/>
          </p:cNvSpPr>
          <p:nvPr>
            <p:ph type="dt" sz="half" idx="10"/>
          </p:nvPr>
        </p:nvSpPr>
        <p:spPr/>
        <p:txBody>
          <a:bodyPr/>
          <a:lstStyle/>
          <a:p>
            <a:fld id="{E451F35B-2BFC-49DB-9A8F-AEFF7CA9274C}" type="datetime1">
              <a:rPr lang="en-IN" smtClean="0"/>
              <a:t>11-06-2026</a:t>
            </a:fld>
            <a:endParaRPr lang="en-IN"/>
          </a:p>
        </p:txBody>
      </p:sp>
      <p:sp>
        <p:nvSpPr>
          <p:cNvPr id="5" name="Footer Placeholder 4">
            <a:extLst>
              <a:ext uri="{FF2B5EF4-FFF2-40B4-BE49-F238E27FC236}">
                <a16:creationId xmlns:a16="http://schemas.microsoft.com/office/drawing/2014/main" id="{7F1C8957-1D96-27BA-26EE-D3D2668C9B5A}"/>
              </a:ext>
            </a:extLst>
          </p:cNvPr>
          <p:cNvSpPr>
            <a:spLocks noGrp="1"/>
          </p:cNvSpPr>
          <p:nvPr>
            <p:ph type="ftr" sz="quarter" idx="11"/>
          </p:nvPr>
        </p:nvSpPr>
        <p:spPr/>
        <p:txBody>
          <a:bodyPr/>
          <a:lstStyle/>
          <a:p>
            <a:r>
              <a:rPr lang="en-IN"/>
              <a:t>SCTR’s PICT, Pune</a:t>
            </a:r>
          </a:p>
        </p:txBody>
      </p:sp>
      <p:sp>
        <p:nvSpPr>
          <p:cNvPr id="6" name="Slide Number Placeholder 5">
            <a:extLst>
              <a:ext uri="{FF2B5EF4-FFF2-40B4-BE49-F238E27FC236}">
                <a16:creationId xmlns:a16="http://schemas.microsoft.com/office/drawing/2014/main" id="{755E90D7-F72C-9FCA-F8E6-0F1FAD049C1A}"/>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376460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DEB3C-87EB-DDB0-49DE-7BF6C001AA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3C068C-5ED0-8010-DE66-7FD847D3C0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E8F4F4-FADD-507E-F540-C1FB5FCFC3DE}"/>
              </a:ext>
            </a:extLst>
          </p:cNvPr>
          <p:cNvSpPr>
            <a:spLocks noGrp="1"/>
          </p:cNvSpPr>
          <p:nvPr>
            <p:ph type="dt" sz="half" idx="10"/>
          </p:nvPr>
        </p:nvSpPr>
        <p:spPr/>
        <p:txBody>
          <a:bodyPr/>
          <a:lstStyle/>
          <a:p>
            <a:fld id="{6D6D2A25-3B77-48D3-95BD-A3411CDE73FF}" type="datetime1">
              <a:rPr lang="en-IN" smtClean="0"/>
              <a:t>11-06-2026</a:t>
            </a:fld>
            <a:endParaRPr lang="en-IN"/>
          </a:p>
        </p:txBody>
      </p:sp>
      <p:sp>
        <p:nvSpPr>
          <p:cNvPr id="5" name="Footer Placeholder 4">
            <a:extLst>
              <a:ext uri="{FF2B5EF4-FFF2-40B4-BE49-F238E27FC236}">
                <a16:creationId xmlns:a16="http://schemas.microsoft.com/office/drawing/2014/main" id="{F5F3D3C4-3308-243C-5E4B-B1F7052E7FA8}"/>
              </a:ext>
            </a:extLst>
          </p:cNvPr>
          <p:cNvSpPr>
            <a:spLocks noGrp="1"/>
          </p:cNvSpPr>
          <p:nvPr>
            <p:ph type="ftr" sz="quarter" idx="11"/>
          </p:nvPr>
        </p:nvSpPr>
        <p:spPr/>
        <p:txBody>
          <a:bodyPr/>
          <a:lstStyle/>
          <a:p>
            <a:r>
              <a:rPr lang="en-IN"/>
              <a:t>SCTR’s PICT, Pune</a:t>
            </a:r>
          </a:p>
        </p:txBody>
      </p:sp>
      <p:sp>
        <p:nvSpPr>
          <p:cNvPr id="6" name="Slide Number Placeholder 5">
            <a:extLst>
              <a:ext uri="{FF2B5EF4-FFF2-40B4-BE49-F238E27FC236}">
                <a16:creationId xmlns:a16="http://schemas.microsoft.com/office/drawing/2014/main" id="{2F955157-94AF-CF0E-F084-A35E66F22B29}"/>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75852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DAA6-85AF-A78B-CB40-1A14885938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612A9-9B69-368A-F51A-274069FBC4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BB02BE-83D0-893D-1733-E0FEB7C0E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63CCF2-8419-B531-6D68-4ECD378BEAE4}"/>
              </a:ext>
            </a:extLst>
          </p:cNvPr>
          <p:cNvSpPr>
            <a:spLocks noGrp="1"/>
          </p:cNvSpPr>
          <p:nvPr>
            <p:ph type="dt" sz="half" idx="10"/>
          </p:nvPr>
        </p:nvSpPr>
        <p:spPr/>
        <p:txBody>
          <a:bodyPr/>
          <a:lstStyle/>
          <a:p>
            <a:fld id="{9DFBCAC5-3307-4F8B-B694-6656FF18BBAB}" type="datetime1">
              <a:rPr lang="en-IN" smtClean="0"/>
              <a:t>11-06-2026</a:t>
            </a:fld>
            <a:endParaRPr lang="en-IN"/>
          </a:p>
        </p:txBody>
      </p:sp>
      <p:sp>
        <p:nvSpPr>
          <p:cNvPr id="6" name="Footer Placeholder 5">
            <a:extLst>
              <a:ext uri="{FF2B5EF4-FFF2-40B4-BE49-F238E27FC236}">
                <a16:creationId xmlns:a16="http://schemas.microsoft.com/office/drawing/2014/main" id="{4A683563-1E5A-8E52-2D1C-E5724EE9C1EC}"/>
              </a:ext>
            </a:extLst>
          </p:cNvPr>
          <p:cNvSpPr>
            <a:spLocks noGrp="1"/>
          </p:cNvSpPr>
          <p:nvPr>
            <p:ph type="ftr" sz="quarter" idx="11"/>
          </p:nvPr>
        </p:nvSpPr>
        <p:spPr/>
        <p:txBody>
          <a:bodyPr/>
          <a:lstStyle/>
          <a:p>
            <a:r>
              <a:rPr lang="en-IN"/>
              <a:t>SCTR’s PICT, Pune</a:t>
            </a:r>
          </a:p>
        </p:txBody>
      </p:sp>
      <p:sp>
        <p:nvSpPr>
          <p:cNvPr id="7" name="Slide Number Placeholder 6">
            <a:extLst>
              <a:ext uri="{FF2B5EF4-FFF2-40B4-BE49-F238E27FC236}">
                <a16:creationId xmlns:a16="http://schemas.microsoft.com/office/drawing/2014/main" id="{1C16EEC5-4F52-E511-5529-F3A5E0081924}"/>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407654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B881F-9540-5231-2C0A-7C6B40B3DC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E851AB-AA69-38EA-ED93-8448EB53A1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9F36BB-4B2C-CEF0-032C-2B89E66D7D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B6124E-239E-0E1C-47E4-E520FA665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2C94D-A4FF-D0FF-79DE-74692B3DA7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2B9F0E-23EE-0D18-1F02-9B5743E1AAD0}"/>
              </a:ext>
            </a:extLst>
          </p:cNvPr>
          <p:cNvSpPr>
            <a:spLocks noGrp="1"/>
          </p:cNvSpPr>
          <p:nvPr>
            <p:ph type="dt" sz="half" idx="10"/>
          </p:nvPr>
        </p:nvSpPr>
        <p:spPr/>
        <p:txBody>
          <a:bodyPr/>
          <a:lstStyle/>
          <a:p>
            <a:fld id="{F6E6A259-6A47-47BF-B70F-3D6AC081621A}" type="datetime1">
              <a:rPr lang="en-IN" smtClean="0"/>
              <a:t>11-06-2026</a:t>
            </a:fld>
            <a:endParaRPr lang="en-IN"/>
          </a:p>
        </p:txBody>
      </p:sp>
      <p:sp>
        <p:nvSpPr>
          <p:cNvPr id="8" name="Footer Placeholder 7">
            <a:extLst>
              <a:ext uri="{FF2B5EF4-FFF2-40B4-BE49-F238E27FC236}">
                <a16:creationId xmlns:a16="http://schemas.microsoft.com/office/drawing/2014/main" id="{AD3A0730-4000-8454-67EA-6C7120AB98F8}"/>
              </a:ext>
            </a:extLst>
          </p:cNvPr>
          <p:cNvSpPr>
            <a:spLocks noGrp="1"/>
          </p:cNvSpPr>
          <p:nvPr>
            <p:ph type="ftr" sz="quarter" idx="11"/>
          </p:nvPr>
        </p:nvSpPr>
        <p:spPr/>
        <p:txBody>
          <a:bodyPr/>
          <a:lstStyle/>
          <a:p>
            <a:r>
              <a:rPr lang="en-IN"/>
              <a:t>SCTR’s PICT, Pune</a:t>
            </a:r>
          </a:p>
        </p:txBody>
      </p:sp>
      <p:sp>
        <p:nvSpPr>
          <p:cNvPr id="9" name="Slide Number Placeholder 8">
            <a:extLst>
              <a:ext uri="{FF2B5EF4-FFF2-40B4-BE49-F238E27FC236}">
                <a16:creationId xmlns:a16="http://schemas.microsoft.com/office/drawing/2014/main" id="{0A26EE88-47D3-8EBD-9146-2EEA431D7DF6}"/>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1667129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E132-ACAB-AAE7-15AB-2132FEAE530D}"/>
              </a:ext>
            </a:extLst>
          </p:cNvPr>
          <p:cNvSpPr>
            <a:spLocks noGrp="1"/>
          </p:cNvSpPr>
          <p:nvPr>
            <p:ph type="title"/>
          </p:nvPr>
        </p:nvSpPr>
        <p:spPr/>
        <p:txBody>
          <a:bodyPr/>
          <a:lstStyle>
            <a:lvl1pPr algn="ctr">
              <a:defRPr/>
            </a:lvl1p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0A63B0F9-76DF-5EF0-2DB5-5F6F7415B85C}"/>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0C948463-D568-FA26-18AF-D17FD6FDB22F}"/>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838DD05E-0B5B-0519-430E-F3A6E62834A7}"/>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3882622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34997A-C38C-3DE8-DD56-9C65B072DFF9}"/>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5D89AF0-8C98-31A8-F349-3F0E75D31A7E}"/>
              </a:ext>
            </a:extLst>
          </p:cNvPr>
          <p:cNvSpPr>
            <a:spLocks noGrp="1"/>
          </p:cNvSpPr>
          <p:nvPr>
            <p:ph type="ftr" sz="quarter" idx="11"/>
          </p:nvPr>
        </p:nvSpPr>
        <p:spPr/>
        <p:txBody>
          <a:bodyPr/>
          <a:lstStyle/>
          <a:p>
            <a:r>
              <a:rPr lang="en-IN" dirty="0"/>
              <a:t>SCTR’s PICT, Pune</a:t>
            </a:r>
          </a:p>
        </p:txBody>
      </p:sp>
      <p:sp>
        <p:nvSpPr>
          <p:cNvPr id="4" name="Slide Number Placeholder 3">
            <a:extLst>
              <a:ext uri="{FF2B5EF4-FFF2-40B4-BE49-F238E27FC236}">
                <a16:creationId xmlns:a16="http://schemas.microsoft.com/office/drawing/2014/main" id="{9CFFDDE7-203A-605A-35F8-FC31DE8BA490}"/>
              </a:ext>
            </a:extLst>
          </p:cNvPr>
          <p:cNvSpPr>
            <a:spLocks noGrp="1"/>
          </p:cNvSpPr>
          <p:nvPr>
            <p:ph type="sldNum" sz="quarter" idx="12"/>
          </p:nvPr>
        </p:nvSpPr>
        <p:spPr/>
        <p:txBody>
          <a:bodyPr/>
          <a:lstStyle/>
          <a:p>
            <a:fld id="{5B1B64FC-C0C6-4D40-9891-AD39CFB51AC3}" type="slidenum">
              <a:rPr lang="en-IN" smtClean="0"/>
              <a:t>‹#›</a:t>
            </a:fld>
            <a:endParaRPr lang="en-IN"/>
          </a:p>
        </p:txBody>
      </p:sp>
      <p:sp>
        <p:nvSpPr>
          <p:cNvPr id="5" name="Title 1">
            <a:extLst>
              <a:ext uri="{FF2B5EF4-FFF2-40B4-BE49-F238E27FC236}">
                <a16:creationId xmlns:a16="http://schemas.microsoft.com/office/drawing/2014/main" id="{DAD371BA-EE38-B1CA-9B4C-164CA8D21F59}"/>
              </a:ext>
            </a:extLst>
          </p:cNvPr>
          <p:cNvSpPr>
            <a:spLocks noGrp="1"/>
          </p:cNvSpPr>
          <p:nvPr>
            <p:ph type="title"/>
          </p:nvPr>
        </p:nvSpPr>
        <p:spPr>
          <a:xfrm>
            <a:off x="0" y="-795"/>
            <a:ext cx="12192000" cy="953295"/>
          </a:xfrm>
        </p:spPr>
        <p:txBody>
          <a:bodyPr/>
          <a:lstStyle>
            <a:lvl1pPr algn="ctr">
              <a:defRPr/>
            </a:lvl1pPr>
          </a:lstStyle>
          <a:p>
            <a:r>
              <a:rPr lang="en-US" dirty="0"/>
              <a:t>Click to edit Master title style</a:t>
            </a:r>
            <a:endParaRPr lang="en-IN" dirty="0"/>
          </a:p>
        </p:txBody>
      </p:sp>
    </p:spTree>
    <p:extLst>
      <p:ext uri="{BB962C8B-B14F-4D97-AF65-F5344CB8AC3E}">
        <p14:creationId xmlns:p14="http://schemas.microsoft.com/office/powerpoint/2010/main" val="2504125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0699-1B12-681A-D86D-F39A4DCDE011}"/>
              </a:ext>
            </a:extLst>
          </p:cNvPr>
          <p:cNvSpPr>
            <a:spLocks noGrp="1"/>
          </p:cNvSpPr>
          <p:nvPr>
            <p:ph type="title"/>
          </p:nvPr>
        </p:nvSpPr>
        <p:spPr/>
        <p:txBody>
          <a:bodyPr/>
          <a:lstStyle>
            <a:lvl1pPr algn="ctr">
              <a:defRPr/>
            </a:lvl1p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CE73CDCF-7D78-A166-26E6-5877246A55F3}"/>
              </a:ext>
            </a:extLst>
          </p:cNvPr>
          <p:cNvSpPr>
            <a:spLocks noGrp="1"/>
          </p:cNvSpPr>
          <p:nvPr>
            <p:ph type="dt" sz="half" idx="10"/>
          </p:nvPr>
        </p:nvSpPr>
        <p:spPr/>
        <p:txBody>
          <a:bodyPr/>
          <a:lstStyle/>
          <a:p>
            <a:fld id="{ED9D8EA3-311A-4C84-A2D8-95BA1CE5A78E}" type="datetime1">
              <a:rPr lang="en-IN" smtClean="0"/>
              <a:t>11-06-2026</a:t>
            </a:fld>
            <a:endParaRPr lang="en-IN"/>
          </a:p>
        </p:txBody>
      </p:sp>
      <p:sp>
        <p:nvSpPr>
          <p:cNvPr id="4" name="Footer Placeholder 3">
            <a:extLst>
              <a:ext uri="{FF2B5EF4-FFF2-40B4-BE49-F238E27FC236}">
                <a16:creationId xmlns:a16="http://schemas.microsoft.com/office/drawing/2014/main" id="{C396C608-F2B1-C458-5331-F6014DCCB78F}"/>
              </a:ext>
            </a:extLst>
          </p:cNvPr>
          <p:cNvSpPr>
            <a:spLocks noGrp="1"/>
          </p:cNvSpPr>
          <p:nvPr>
            <p:ph type="ftr" sz="quarter" idx="11"/>
          </p:nvPr>
        </p:nvSpPr>
        <p:spPr/>
        <p:txBody>
          <a:bodyPr/>
          <a:lstStyle/>
          <a:p>
            <a:r>
              <a:rPr lang="en-IN"/>
              <a:t>SCTR’s PICT, Pune</a:t>
            </a:r>
            <a:endParaRPr lang="en-IN" dirty="0"/>
          </a:p>
        </p:txBody>
      </p:sp>
      <p:sp>
        <p:nvSpPr>
          <p:cNvPr id="5" name="Slide Number Placeholder 4">
            <a:extLst>
              <a:ext uri="{FF2B5EF4-FFF2-40B4-BE49-F238E27FC236}">
                <a16:creationId xmlns:a16="http://schemas.microsoft.com/office/drawing/2014/main" id="{38650FA1-EBFC-95A6-0B50-BD52279CBD07}"/>
              </a:ext>
            </a:extLst>
          </p:cNvPr>
          <p:cNvSpPr>
            <a:spLocks noGrp="1"/>
          </p:cNvSpPr>
          <p:nvPr>
            <p:ph type="sldNum" sz="quarter" idx="12"/>
          </p:nvPr>
        </p:nvSpPr>
        <p:spPr/>
        <p:txBody>
          <a:bodyPr/>
          <a:lstStyle/>
          <a:p>
            <a:fld id="{5B1B64FC-C0C6-4D40-9891-AD39CFB51AC3}" type="slidenum">
              <a:rPr lang="en-IN" smtClean="0"/>
              <a:t>‹#›</a:t>
            </a:fld>
            <a:endParaRPr lang="en-IN" dirty="0"/>
          </a:p>
        </p:txBody>
      </p:sp>
    </p:spTree>
    <p:extLst>
      <p:ext uri="{BB962C8B-B14F-4D97-AF65-F5344CB8AC3E}">
        <p14:creationId xmlns:p14="http://schemas.microsoft.com/office/powerpoint/2010/main" val="411748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B5419-2CF6-2A3B-37A6-855D7F432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A63CDD-B349-8D52-E3EF-F91604E884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BD1DF7-D451-E1E5-CA79-F13F697A6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790CB4-AECA-4A81-C332-D55EAAC62ACC}"/>
              </a:ext>
            </a:extLst>
          </p:cNvPr>
          <p:cNvSpPr>
            <a:spLocks noGrp="1"/>
          </p:cNvSpPr>
          <p:nvPr>
            <p:ph type="dt" sz="half" idx="10"/>
          </p:nvPr>
        </p:nvSpPr>
        <p:spPr/>
        <p:txBody>
          <a:bodyPr/>
          <a:lstStyle/>
          <a:p>
            <a:fld id="{EEF2DDEE-2C1B-42B5-9EE0-C9B88D578487}" type="datetime1">
              <a:rPr lang="en-IN" smtClean="0"/>
              <a:t>11-06-2026</a:t>
            </a:fld>
            <a:endParaRPr lang="en-IN"/>
          </a:p>
        </p:txBody>
      </p:sp>
      <p:sp>
        <p:nvSpPr>
          <p:cNvPr id="6" name="Footer Placeholder 5">
            <a:extLst>
              <a:ext uri="{FF2B5EF4-FFF2-40B4-BE49-F238E27FC236}">
                <a16:creationId xmlns:a16="http://schemas.microsoft.com/office/drawing/2014/main" id="{DEE31B15-5AE7-776F-A120-438B439CF9AD}"/>
              </a:ext>
            </a:extLst>
          </p:cNvPr>
          <p:cNvSpPr>
            <a:spLocks noGrp="1"/>
          </p:cNvSpPr>
          <p:nvPr>
            <p:ph type="ftr" sz="quarter" idx="11"/>
          </p:nvPr>
        </p:nvSpPr>
        <p:spPr/>
        <p:txBody>
          <a:bodyPr/>
          <a:lstStyle/>
          <a:p>
            <a:r>
              <a:rPr lang="en-IN"/>
              <a:t>SCTR’s PICT, Pune</a:t>
            </a:r>
          </a:p>
        </p:txBody>
      </p:sp>
      <p:sp>
        <p:nvSpPr>
          <p:cNvPr id="7" name="Slide Number Placeholder 6">
            <a:extLst>
              <a:ext uri="{FF2B5EF4-FFF2-40B4-BE49-F238E27FC236}">
                <a16:creationId xmlns:a16="http://schemas.microsoft.com/office/drawing/2014/main" id="{4841291F-F1BA-F6B6-9E29-990A47C710D6}"/>
              </a:ext>
            </a:extLst>
          </p:cNvPr>
          <p:cNvSpPr>
            <a:spLocks noGrp="1"/>
          </p:cNvSpPr>
          <p:nvPr>
            <p:ph type="sldNum" sz="quarter" idx="12"/>
          </p:nvPr>
        </p:nvSpPr>
        <p:spPr/>
        <p:txBody>
          <a:bodyPr/>
          <a:lstStyle/>
          <a:p>
            <a:fld id="{5B1B64FC-C0C6-4D40-9891-AD39CFB51AC3}" type="slidenum">
              <a:rPr lang="en-IN" smtClean="0"/>
              <a:t>‹#›</a:t>
            </a:fld>
            <a:endParaRPr lang="en-IN"/>
          </a:p>
        </p:txBody>
      </p:sp>
      <p:sp>
        <p:nvSpPr>
          <p:cNvPr id="8" name="Title 1">
            <a:extLst>
              <a:ext uri="{FF2B5EF4-FFF2-40B4-BE49-F238E27FC236}">
                <a16:creationId xmlns:a16="http://schemas.microsoft.com/office/drawing/2014/main" id="{46EFD9A1-C574-5B7B-569F-4AF329430D3D}"/>
              </a:ext>
            </a:extLst>
          </p:cNvPr>
          <p:cNvSpPr txBox="1">
            <a:spLocks/>
          </p:cNvSpPr>
          <p:nvPr userDrawn="1"/>
        </p:nvSpPr>
        <p:spPr>
          <a:xfrm>
            <a:off x="0" y="-795"/>
            <a:ext cx="12192000" cy="953295"/>
          </a:xfrm>
          <a:prstGeom prst="rect">
            <a:avLst/>
          </a:prstGeom>
          <a:solidFill>
            <a:srgbClr val="0070C0"/>
          </a:solidFill>
          <a:ln w="12700" cap="flat" cmpd="sng" algn="ctr">
            <a:solidFill>
              <a:schemeClr val="accent5">
                <a:lumMod val="75000"/>
              </a:schemeClr>
            </a:solidFill>
            <a:prstDash val="solid"/>
            <a:miter lim="800000"/>
          </a:ln>
          <a:effectLst/>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t>Click to edit Master title style</a:t>
            </a:r>
            <a:endParaRPr lang="en-IN" dirty="0"/>
          </a:p>
        </p:txBody>
      </p:sp>
    </p:spTree>
    <p:extLst>
      <p:ext uri="{BB962C8B-B14F-4D97-AF65-F5344CB8AC3E}">
        <p14:creationId xmlns:p14="http://schemas.microsoft.com/office/powerpoint/2010/main" val="207774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490CC-DB56-7584-D375-143AA7E3D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919121-99FB-336B-7401-25BF95D78B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E0F9D5-3838-E4AB-E48B-C37DE7D955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3FBE7-D9A5-200E-3671-622C55EE7C9F}"/>
              </a:ext>
            </a:extLst>
          </p:cNvPr>
          <p:cNvSpPr>
            <a:spLocks noGrp="1"/>
          </p:cNvSpPr>
          <p:nvPr>
            <p:ph type="dt" sz="half" idx="10"/>
          </p:nvPr>
        </p:nvSpPr>
        <p:spPr/>
        <p:txBody>
          <a:bodyPr/>
          <a:lstStyle/>
          <a:p>
            <a:fld id="{F9EA6A4C-79FF-4BD1-806A-5DE1EC819EC5}" type="datetime1">
              <a:rPr lang="en-IN" smtClean="0"/>
              <a:t>11-06-2026</a:t>
            </a:fld>
            <a:endParaRPr lang="en-IN"/>
          </a:p>
        </p:txBody>
      </p:sp>
      <p:sp>
        <p:nvSpPr>
          <p:cNvPr id="6" name="Footer Placeholder 5">
            <a:extLst>
              <a:ext uri="{FF2B5EF4-FFF2-40B4-BE49-F238E27FC236}">
                <a16:creationId xmlns:a16="http://schemas.microsoft.com/office/drawing/2014/main" id="{28126E0F-A186-428A-28A8-E009E4016E4F}"/>
              </a:ext>
            </a:extLst>
          </p:cNvPr>
          <p:cNvSpPr>
            <a:spLocks noGrp="1"/>
          </p:cNvSpPr>
          <p:nvPr>
            <p:ph type="ftr" sz="quarter" idx="11"/>
          </p:nvPr>
        </p:nvSpPr>
        <p:spPr/>
        <p:txBody>
          <a:bodyPr/>
          <a:lstStyle/>
          <a:p>
            <a:r>
              <a:rPr lang="en-IN"/>
              <a:t>SCTR’s PICT, Pune</a:t>
            </a:r>
          </a:p>
        </p:txBody>
      </p:sp>
      <p:sp>
        <p:nvSpPr>
          <p:cNvPr id="7" name="Slide Number Placeholder 6">
            <a:extLst>
              <a:ext uri="{FF2B5EF4-FFF2-40B4-BE49-F238E27FC236}">
                <a16:creationId xmlns:a16="http://schemas.microsoft.com/office/drawing/2014/main" id="{84B59402-3D1B-A907-F072-C53A17EBF428}"/>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3021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4035-EB93-7748-5464-DD832EC55EFD}"/>
              </a:ext>
            </a:extLst>
          </p:cNvPr>
          <p:cNvSpPr>
            <a:spLocks noGrp="1"/>
          </p:cNvSpPr>
          <p:nvPr>
            <p:ph type="title"/>
          </p:nvPr>
        </p:nvSpPr>
        <p:spPr/>
        <p:txBody>
          <a:bodyPr/>
          <a:lstStyle>
            <a:lvl1pPr algn="ctr">
              <a:defRPr/>
            </a:lvl1p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310850E6-4793-62E0-7DF0-27C9C7408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EA621F-4E89-CD16-55A3-DDACCE46417E}"/>
              </a:ext>
            </a:extLst>
          </p:cNvPr>
          <p:cNvSpPr>
            <a:spLocks noGrp="1"/>
          </p:cNvSpPr>
          <p:nvPr>
            <p:ph type="dt" sz="half" idx="10"/>
          </p:nvPr>
        </p:nvSpPr>
        <p:spPr/>
        <p:txBody>
          <a:bodyPr/>
          <a:lstStyle/>
          <a:p>
            <a:fld id="{98345288-7271-4C87-A593-686C7D2A5503}" type="datetime1">
              <a:rPr lang="en-IN" smtClean="0"/>
              <a:t>11-06-2026</a:t>
            </a:fld>
            <a:endParaRPr lang="en-IN"/>
          </a:p>
        </p:txBody>
      </p:sp>
      <p:sp>
        <p:nvSpPr>
          <p:cNvPr id="5" name="Footer Placeholder 4">
            <a:extLst>
              <a:ext uri="{FF2B5EF4-FFF2-40B4-BE49-F238E27FC236}">
                <a16:creationId xmlns:a16="http://schemas.microsoft.com/office/drawing/2014/main" id="{9C6A938A-F38E-9C22-FBD5-086494748F5A}"/>
              </a:ext>
            </a:extLst>
          </p:cNvPr>
          <p:cNvSpPr>
            <a:spLocks noGrp="1"/>
          </p:cNvSpPr>
          <p:nvPr>
            <p:ph type="ftr" sz="quarter" idx="11"/>
          </p:nvPr>
        </p:nvSpPr>
        <p:spPr/>
        <p:txBody>
          <a:bodyPr/>
          <a:lstStyle/>
          <a:p>
            <a:r>
              <a:rPr lang="en-IN"/>
              <a:t>SCTR’s PICT, Pune</a:t>
            </a:r>
          </a:p>
        </p:txBody>
      </p:sp>
      <p:sp>
        <p:nvSpPr>
          <p:cNvPr id="6" name="Slide Number Placeholder 5">
            <a:extLst>
              <a:ext uri="{FF2B5EF4-FFF2-40B4-BE49-F238E27FC236}">
                <a16:creationId xmlns:a16="http://schemas.microsoft.com/office/drawing/2014/main" id="{44632D13-4CD6-B351-C8D1-286C5A621960}"/>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3407792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F147E3-F0FA-F7A7-E8E2-09C7E4FD97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04306A-6F18-66C3-D1EE-917A27A448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9FBBA7-AE85-6DB2-21EF-34EA2532D720}"/>
              </a:ext>
            </a:extLst>
          </p:cNvPr>
          <p:cNvSpPr>
            <a:spLocks noGrp="1"/>
          </p:cNvSpPr>
          <p:nvPr>
            <p:ph type="dt" sz="half" idx="10"/>
          </p:nvPr>
        </p:nvSpPr>
        <p:spPr/>
        <p:txBody>
          <a:bodyPr/>
          <a:lstStyle/>
          <a:p>
            <a:fld id="{77D23582-5811-4C80-A998-7371305E1207}" type="datetime1">
              <a:rPr lang="en-IN" smtClean="0"/>
              <a:t>11-06-2026</a:t>
            </a:fld>
            <a:endParaRPr lang="en-IN"/>
          </a:p>
        </p:txBody>
      </p:sp>
      <p:sp>
        <p:nvSpPr>
          <p:cNvPr id="5" name="Footer Placeholder 4">
            <a:extLst>
              <a:ext uri="{FF2B5EF4-FFF2-40B4-BE49-F238E27FC236}">
                <a16:creationId xmlns:a16="http://schemas.microsoft.com/office/drawing/2014/main" id="{BAF7EC96-7626-77CC-6EBC-D64E5B346874}"/>
              </a:ext>
            </a:extLst>
          </p:cNvPr>
          <p:cNvSpPr>
            <a:spLocks noGrp="1"/>
          </p:cNvSpPr>
          <p:nvPr>
            <p:ph type="ftr" sz="quarter" idx="11"/>
          </p:nvPr>
        </p:nvSpPr>
        <p:spPr/>
        <p:txBody>
          <a:bodyPr/>
          <a:lstStyle/>
          <a:p>
            <a:r>
              <a:rPr lang="en-IN"/>
              <a:t>SCTR’s PICT, Pune</a:t>
            </a:r>
          </a:p>
        </p:txBody>
      </p:sp>
      <p:sp>
        <p:nvSpPr>
          <p:cNvPr id="6" name="Slide Number Placeholder 5">
            <a:extLst>
              <a:ext uri="{FF2B5EF4-FFF2-40B4-BE49-F238E27FC236}">
                <a16:creationId xmlns:a16="http://schemas.microsoft.com/office/drawing/2014/main" id="{A4AFFE4B-FE1B-D49D-8686-BDDC418C9285}"/>
              </a:ext>
            </a:extLst>
          </p:cNvPr>
          <p:cNvSpPr>
            <a:spLocks noGrp="1"/>
          </p:cNvSpPr>
          <p:nvPr>
            <p:ph type="sldNum" sz="quarter" idx="12"/>
          </p:nvPr>
        </p:nvSpPr>
        <p:spPr/>
        <p:txBody>
          <a:bodyPr/>
          <a:lstStyle/>
          <a:p>
            <a:fld id="{5B1B64FC-C0C6-4D40-9891-AD39CFB51AC3}" type="slidenum">
              <a:rPr lang="en-IN" smtClean="0"/>
              <a:t>‹#›</a:t>
            </a:fld>
            <a:endParaRPr lang="en-IN"/>
          </a:p>
        </p:txBody>
      </p:sp>
    </p:spTree>
    <p:extLst>
      <p:ext uri="{BB962C8B-B14F-4D97-AF65-F5344CB8AC3E}">
        <p14:creationId xmlns:p14="http://schemas.microsoft.com/office/powerpoint/2010/main" val="39497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985885-A3F8-7722-B060-A600F37A672E}"/>
              </a:ext>
            </a:extLst>
          </p:cNvPr>
          <p:cNvSpPr>
            <a:spLocks noGrp="1"/>
          </p:cNvSpPr>
          <p:nvPr>
            <p:ph type="title"/>
          </p:nvPr>
        </p:nvSpPr>
        <p:spPr>
          <a:xfrm>
            <a:off x="0" y="8730"/>
            <a:ext cx="12192000" cy="953295"/>
          </a:xfrm>
          <a:prstGeom prst="rect">
            <a:avLst/>
          </a:prstGeom>
          <a:solidFill>
            <a:srgbClr val="0070C0"/>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E0D3366-3672-4489-EEE8-616D13306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33CA11-E4C8-F745-FA29-6BB8F667DA99}"/>
              </a:ext>
            </a:extLst>
          </p:cNvPr>
          <p:cNvSpPr>
            <a:spLocks noGrp="1"/>
          </p:cNvSpPr>
          <p:nvPr>
            <p:ph type="dt" sz="half" idx="2"/>
          </p:nvPr>
        </p:nvSpPr>
        <p:spPr>
          <a:xfrm>
            <a:off x="8610599" y="637539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EB60E3-9420-43F6-ADF4-41F3A093A88C}" type="datetime1">
              <a:rPr lang="en-IN" smtClean="0"/>
              <a:t>11-06-2026</a:t>
            </a:fld>
            <a:endParaRPr lang="en-IN" dirty="0"/>
          </a:p>
        </p:txBody>
      </p:sp>
      <p:sp>
        <p:nvSpPr>
          <p:cNvPr id="5" name="Footer Placeholder 4">
            <a:extLst>
              <a:ext uri="{FF2B5EF4-FFF2-40B4-BE49-F238E27FC236}">
                <a16:creationId xmlns:a16="http://schemas.microsoft.com/office/drawing/2014/main" id="{75FF138C-6728-D912-3B0A-5CA8BB4BC54B}"/>
              </a:ext>
            </a:extLst>
          </p:cNvPr>
          <p:cNvSpPr>
            <a:spLocks noGrp="1"/>
          </p:cNvSpPr>
          <p:nvPr>
            <p:ph type="ftr" sz="quarter" idx="3"/>
          </p:nvPr>
        </p:nvSpPr>
        <p:spPr>
          <a:xfrm>
            <a:off x="4210050" y="6375399"/>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SCTR’s PICT, Pune</a:t>
            </a:r>
          </a:p>
        </p:txBody>
      </p:sp>
      <p:sp>
        <p:nvSpPr>
          <p:cNvPr id="6" name="Slide Number Placeholder 5">
            <a:extLst>
              <a:ext uri="{FF2B5EF4-FFF2-40B4-BE49-F238E27FC236}">
                <a16:creationId xmlns:a16="http://schemas.microsoft.com/office/drawing/2014/main" id="{70406613-B1F4-731E-F9B1-EDF7F0C84851}"/>
              </a:ext>
            </a:extLst>
          </p:cNvPr>
          <p:cNvSpPr>
            <a:spLocks noGrp="1"/>
          </p:cNvSpPr>
          <p:nvPr>
            <p:ph type="sldNum" sz="quarter" idx="4"/>
          </p:nvPr>
        </p:nvSpPr>
        <p:spPr>
          <a:xfrm>
            <a:off x="10772774" y="6375400"/>
            <a:ext cx="5810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1B64FC-C0C6-4D40-9891-AD39CFB51AC3}" type="slidenum">
              <a:rPr lang="en-IN" smtClean="0"/>
              <a:t>‹#›</a:t>
            </a:fld>
            <a:endParaRPr lang="en-IN" dirty="0"/>
          </a:p>
        </p:txBody>
      </p:sp>
      <p:sp>
        <p:nvSpPr>
          <p:cNvPr id="8" name="Date Placeholder 3">
            <a:extLst>
              <a:ext uri="{FF2B5EF4-FFF2-40B4-BE49-F238E27FC236}">
                <a16:creationId xmlns:a16="http://schemas.microsoft.com/office/drawing/2014/main" id="{76F18E61-BDB6-20C2-6BB9-BD97AFE74FD2}"/>
              </a:ext>
            </a:extLst>
          </p:cNvPr>
          <p:cNvSpPr txBox="1">
            <a:spLocks/>
          </p:cNvSpPr>
          <p:nvPr userDrawn="1"/>
        </p:nvSpPr>
        <p:spPr>
          <a:xfrm>
            <a:off x="933449" y="6375398"/>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dirty="0">
                <a:latin typeface="Times New Roman" panose="02020603050405020304" pitchFamily="18" charset="0"/>
                <a:cs typeface="Times New Roman" panose="02020603050405020304" pitchFamily="18" charset="0"/>
              </a:rPr>
              <a:t>Exam Seat No.</a:t>
            </a:r>
            <a:endParaRPr lang="en-IN" dirty="0"/>
          </a:p>
        </p:txBody>
      </p:sp>
    </p:spTree>
    <p:extLst>
      <p:ext uri="{BB962C8B-B14F-4D97-AF65-F5344CB8AC3E}">
        <p14:creationId xmlns:p14="http://schemas.microsoft.com/office/powerpoint/2010/main" val="4078383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2140DC-0192-AAEC-8921-FFFA3CE60C94}"/>
              </a:ext>
            </a:extLst>
          </p:cNvPr>
          <p:cNvSpPr>
            <a:spLocks noGrp="1"/>
          </p:cNvSpPr>
          <p:nvPr>
            <p:ph type="ctrTitle"/>
          </p:nvPr>
        </p:nvSpPr>
        <p:spPr>
          <a:xfrm>
            <a:off x="536643" y="245806"/>
            <a:ext cx="11118714" cy="1586473"/>
          </a:xfrm>
        </p:spPr>
        <p:style>
          <a:lnRef idx="2">
            <a:schemeClr val="accent1">
              <a:shade val="15000"/>
            </a:schemeClr>
          </a:lnRef>
          <a:fillRef idx="1">
            <a:schemeClr val="accent1"/>
          </a:fillRef>
          <a:effectRef idx="0">
            <a:schemeClr val="accent1"/>
          </a:effectRef>
          <a:fontRef idx="minor">
            <a:schemeClr val="lt1"/>
          </a:fontRef>
        </p:style>
        <p:txBody>
          <a:bodyPr>
            <a:noAutofit/>
          </a:bodyPr>
          <a:lstStyle/>
          <a:p>
            <a:r>
              <a:rPr lang="en-US" sz="3600" dirty="0">
                <a:latin typeface="Times New Roman" panose="02020603050405020304" pitchFamily="18" charset="0"/>
                <a:cs typeface="Times New Roman" panose="02020603050405020304" pitchFamily="18" charset="0"/>
              </a:rPr>
              <a:t>Clinic Management System with Disease Prediction and Appointment Booking</a:t>
            </a:r>
            <a:endParaRPr lang="en-IN" sz="3600" dirty="0">
              <a:latin typeface="Times New Roman" panose="02020603050405020304" pitchFamily="18" charset="0"/>
              <a:cs typeface="Times New Roman" panose="02020603050405020304" pitchFamily="18" charset="0"/>
            </a:endParaRPr>
          </a:p>
        </p:txBody>
      </p:sp>
      <p:sp>
        <p:nvSpPr>
          <p:cNvPr id="8" name="Subtitle 7">
            <a:extLst>
              <a:ext uri="{FF2B5EF4-FFF2-40B4-BE49-F238E27FC236}">
                <a16:creationId xmlns:a16="http://schemas.microsoft.com/office/drawing/2014/main" id="{E3C51578-499E-7DAA-322B-CF023A90D69E}"/>
              </a:ext>
            </a:extLst>
          </p:cNvPr>
          <p:cNvSpPr>
            <a:spLocks noGrp="1"/>
          </p:cNvSpPr>
          <p:nvPr>
            <p:ph type="subTitle" idx="1"/>
          </p:nvPr>
        </p:nvSpPr>
        <p:spPr>
          <a:xfrm>
            <a:off x="1446178" y="1973837"/>
            <a:ext cx="9144000" cy="4433009"/>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Name: Saurabh </a:t>
            </a:r>
            <a:r>
              <a:rPr lang="en-IN" dirty="0" err="1">
                <a:latin typeface="Times New Roman" panose="02020603050405020304" pitchFamily="18" charset="0"/>
                <a:cs typeface="Times New Roman" panose="02020603050405020304" pitchFamily="18" charset="0"/>
              </a:rPr>
              <a:t>Mapari</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Exam. No:M240501015</a:t>
            </a:r>
            <a:endParaRPr lang="en-IN" sz="9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Under the Guidance of</a:t>
            </a:r>
          </a:p>
          <a:p>
            <a:r>
              <a:rPr lang="en-IN" dirty="0">
                <a:latin typeface="Times New Roman" panose="02020603050405020304" pitchFamily="18" charset="0"/>
                <a:cs typeface="Times New Roman" panose="02020603050405020304" pitchFamily="18" charset="0"/>
              </a:rPr>
              <a:t>Guide Name:</a:t>
            </a:r>
            <a:r>
              <a:rPr lang="en-US" dirty="0">
                <a:latin typeface="Times New Roman" panose="02020603050405020304" pitchFamily="18" charset="0"/>
                <a:cs typeface="Times New Roman" panose="02020603050405020304" pitchFamily="18" charset="0"/>
              </a:rPr>
              <a:t>Prof </a:t>
            </a:r>
            <a:r>
              <a:rPr lang="en-US" dirty="0" err="1">
                <a:latin typeface="Times New Roman" panose="02020603050405020304" pitchFamily="18" charset="0"/>
                <a:cs typeface="Times New Roman" panose="02020603050405020304" pitchFamily="18" charset="0"/>
              </a:rPr>
              <a:t>R.S.Paswan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Department of Computer Engineering</a:t>
            </a:r>
          </a:p>
          <a:p>
            <a:r>
              <a:rPr lang="en-IN" dirty="0">
                <a:latin typeface="Times New Roman" panose="02020603050405020304" pitchFamily="18" charset="0"/>
                <a:cs typeface="Times New Roman" panose="02020603050405020304" pitchFamily="18" charset="0"/>
              </a:rPr>
              <a:t>SCTR’s Pune Institute of Computer Technology, Pune</a:t>
            </a:r>
          </a:p>
        </p:txBody>
      </p:sp>
      <p:sp>
        <p:nvSpPr>
          <p:cNvPr id="4" name="Date Placeholder 3">
            <a:extLst>
              <a:ext uri="{FF2B5EF4-FFF2-40B4-BE49-F238E27FC236}">
                <a16:creationId xmlns:a16="http://schemas.microsoft.com/office/drawing/2014/main" id="{1062F14C-8E8E-0482-91D5-2D337310822C}"/>
              </a:ext>
            </a:extLst>
          </p:cNvPr>
          <p:cNvSpPr>
            <a:spLocks noGrp="1"/>
          </p:cNvSpPr>
          <p:nvPr>
            <p:ph type="dt" sz="half" idx="10"/>
          </p:nvPr>
        </p:nvSpPr>
        <p:spPr/>
        <p:txBody>
          <a:bodyPr/>
          <a:lstStyle/>
          <a:p>
            <a:fld id="{E451F35B-2BFC-49DB-9A8F-AEFF7CA9274C}" type="datetime1">
              <a:rPr lang="en-IN" smtClean="0"/>
              <a:t>11-06-2026</a:t>
            </a:fld>
            <a:endParaRPr lang="en-IN" dirty="0"/>
          </a:p>
        </p:txBody>
      </p:sp>
      <p:sp>
        <p:nvSpPr>
          <p:cNvPr id="5" name="Footer Placeholder 4">
            <a:extLst>
              <a:ext uri="{FF2B5EF4-FFF2-40B4-BE49-F238E27FC236}">
                <a16:creationId xmlns:a16="http://schemas.microsoft.com/office/drawing/2014/main" id="{F55A2579-9978-833C-D4B4-04925D3C76AD}"/>
              </a:ext>
            </a:extLst>
          </p:cNvPr>
          <p:cNvSpPr>
            <a:spLocks noGrp="1"/>
          </p:cNvSpPr>
          <p:nvPr>
            <p:ph type="ftr" sz="quarter" idx="11"/>
          </p:nvPr>
        </p:nvSpPr>
        <p:spPr/>
        <p:txBody>
          <a:bodyPr/>
          <a:lstStyle/>
          <a:p>
            <a:r>
              <a:rPr lang="en-IN" dirty="0"/>
              <a:t>SCTR’s PICT, Pune</a:t>
            </a:r>
          </a:p>
        </p:txBody>
      </p:sp>
      <p:sp>
        <p:nvSpPr>
          <p:cNvPr id="6" name="Slide Number Placeholder 5">
            <a:extLst>
              <a:ext uri="{FF2B5EF4-FFF2-40B4-BE49-F238E27FC236}">
                <a16:creationId xmlns:a16="http://schemas.microsoft.com/office/drawing/2014/main" id="{644B687E-9B64-AE45-E3E7-D0509F4ED5FB}"/>
              </a:ext>
            </a:extLst>
          </p:cNvPr>
          <p:cNvSpPr>
            <a:spLocks noGrp="1"/>
          </p:cNvSpPr>
          <p:nvPr>
            <p:ph type="sldNum" sz="quarter" idx="12"/>
          </p:nvPr>
        </p:nvSpPr>
        <p:spPr/>
        <p:txBody>
          <a:bodyPr/>
          <a:lstStyle/>
          <a:p>
            <a:fld id="{5B1B64FC-C0C6-4D40-9891-AD39CFB51AC3}" type="slidenum">
              <a:rPr lang="en-IN" smtClean="0"/>
              <a:t>1</a:t>
            </a:fld>
            <a:endParaRPr lang="en-IN"/>
          </a:p>
        </p:txBody>
      </p:sp>
      <p:pic>
        <p:nvPicPr>
          <p:cNvPr id="3" name="Picture 2">
            <a:extLst>
              <a:ext uri="{FF2B5EF4-FFF2-40B4-BE49-F238E27FC236}">
                <a16:creationId xmlns:a16="http://schemas.microsoft.com/office/drawing/2014/main" id="{86CF2E99-18ED-CEB4-0C07-30552CE4D579}"/>
              </a:ext>
            </a:extLst>
          </p:cNvPr>
          <p:cNvPicPr>
            <a:picLocks noChangeAspect="1"/>
          </p:cNvPicPr>
          <p:nvPr/>
        </p:nvPicPr>
        <p:blipFill>
          <a:blip r:embed="rId2"/>
          <a:stretch>
            <a:fillRect/>
          </a:stretch>
        </p:blipFill>
        <p:spPr>
          <a:xfrm>
            <a:off x="5122751" y="4003903"/>
            <a:ext cx="1790855" cy="1501951"/>
          </a:xfrm>
          <a:prstGeom prst="rect">
            <a:avLst/>
          </a:prstGeom>
        </p:spPr>
      </p:pic>
    </p:spTree>
    <p:extLst>
      <p:ext uri="{BB962C8B-B14F-4D97-AF65-F5344CB8AC3E}">
        <p14:creationId xmlns:p14="http://schemas.microsoft.com/office/powerpoint/2010/main" val="596897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CE5C4-71BD-2AE0-979D-09D1F7BFDF0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Contents</a:t>
            </a:r>
          </a:p>
        </p:txBody>
      </p:sp>
      <p:sp>
        <p:nvSpPr>
          <p:cNvPr id="3" name="Date Placeholder 2">
            <a:extLst>
              <a:ext uri="{FF2B5EF4-FFF2-40B4-BE49-F238E27FC236}">
                <a16:creationId xmlns:a16="http://schemas.microsoft.com/office/drawing/2014/main" id="{A63F2FD9-A60A-F9B1-DF17-C3EEC3B927C1}"/>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E6A7999E-9E45-602D-8A69-D7BC7B5BA0B5}"/>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217AB35D-CC28-EAB2-37A7-109284268705}"/>
              </a:ext>
            </a:extLst>
          </p:cNvPr>
          <p:cNvSpPr>
            <a:spLocks noGrp="1"/>
          </p:cNvSpPr>
          <p:nvPr>
            <p:ph type="sldNum" sz="quarter" idx="12"/>
          </p:nvPr>
        </p:nvSpPr>
        <p:spPr/>
        <p:txBody>
          <a:bodyPr/>
          <a:lstStyle/>
          <a:p>
            <a:fld id="{5B1B64FC-C0C6-4D40-9891-AD39CFB51AC3}" type="slidenum">
              <a:rPr lang="en-IN" smtClean="0"/>
              <a:t>2</a:t>
            </a:fld>
            <a:endParaRPr lang="en-IN"/>
          </a:p>
        </p:txBody>
      </p:sp>
      <p:sp>
        <p:nvSpPr>
          <p:cNvPr id="7" name="TextBox 6">
            <a:extLst>
              <a:ext uri="{FF2B5EF4-FFF2-40B4-BE49-F238E27FC236}">
                <a16:creationId xmlns:a16="http://schemas.microsoft.com/office/drawing/2014/main" id="{F43AFAA6-436B-327E-B918-3F673F58604E}"/>
              </a:ext>
            </a:extLst>
          </p:cNvPr>
          <p:cNvSpPr txBox="1"/>
          <p:nvPr/>
        </p:nvSpPr>
        <p:spPr>
          <a:xfrm>
            <a:off x="650966" y="1088066"/>
            <a:ext cx="8676927" cy="5570756"/>
          </a:xfrm>
          <a:prstGeom prst="rect">
            <a:avLst/>
          </a:prstGeom>
          <a:noFill/>
        </p:spPr>
        <p:txBody>
          <a:bodyPr wrap="square">
            <a:spAutoFit/>
          </a:bodyPr>
          <a:lstStyle/>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Introduction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Problem Statement &amp; Objectives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Existing vs Proposed System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Architecture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Workflow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Module-wise Explanation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Dataset Description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Methodology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Model Comparison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Implementation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Database Design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Technologies Used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UI Screens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Future Scope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Conclusion  </a:t>
            </a:r>
          </a:p>
          <a:p>
            <a:pPr marL="342900" indent="-342900">
              <a:spcBef>
                <a:spcPts val="400"/>
              </a:spcBef>
              <a:spcAft>
                <a:spcPts val="4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References </a:t>
            </a:r>
          </a:p>
        </p:txBody>
      </p:sp>
    </p:spTree>
    <p:extLst>
      <p:ext uri="{BB962C8B-B14F-4D97-AF65-F5344CB8AC3E}">
        <p14:creationId xmlns:p14="http://schemas.microsoft.com/office/powerpoint/2010/main" val="3638599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2F7521-DC44-FF0E-E51A-C5A77564F541}"/>
              </a:ext>
            </a:extLst>
          </p:cNvPr>
          <p:cNvSpPr>
            <a:spLocks noGrp="1"/>
          </p:cNvSpPr>
          <p:nvPr>
            <p:ph type="sldNum" idx="12"/>
          </p:nvPr>
        </p:nvSpPr>
        <p:spPr/>
        <p:txBody>
          <a:bodyPr/>
          <a:lstStyle/>
          <a:p>
            <a:fld id="{00000000-1234-1234-1234-123412341234}" type="slidenum">
              <a:rPr lang="en-US" sz="1400" smtClean="0"/>
              <a:pPr/>
              <a:t>3</a:t>
            </a:fld>
            <a:endParaRPr lang="en-US" sz="1400"/>
          </a:p>
        </p:txBody>
      </p:sp>
      <p:sp>
        <p:nvSpPr>
          <p:cNvPr id="4" name="Footer Placeholder 3">
            <a:extLst>
              <a:ext uri="{FF2B5EF4-FFF2-40B4-BE49-F238E27FC236}">
                <a16:creationId xmlns:a16="http://schemas.microsoft.com/office/drawing/2014/main" id="{9D904B1F-2CD8-EC42-E691-6D7B4940D8DB}"/>
              </a:ext>
            </a:extLst>
          </p:cNvPr>
          <p:cNvSpPr>
            <a:spLocks noGrp="1"/>
          </p:cNvSpPr>
          <p:nvPr>
            <p:ph type="ftr" idx="11"/>
          </p:nvPr>
        </p:nvSpPr>
        <p:spPr/>
        <p:txBody>
          <a:bodyPr/>
          <a:lstStyle/>
          <a:p>
            <a:r>
              <a:rPr lang="en-US" sz="1400" dirty="0"/>
              <a:t>SCTR’s PICT, Pune</a:t>
            </a:r>
          </a:p>
        </p:txBody>
      </p:sp>
      <p:sp>
        <p:nvSpPr>
          <p:cNvPr id="6" name="Title 3">
            <a:extLst>
              <a:ext uri="{FF2B5EF4-FFF2-40B4-BE49-F238E27FC236}">
                <a16:creationId xmlns:a16="http://schemas.microsoft.com/office/drawing/2014/main" id="{2611512D-E7E2-1FFD-6D41-DACA84B4DE64}"/>
              </a:ext>
            </a:extLst>
          </p:cNvPr>
          <p:cNvSpPr>
            <a:spLocks noGrp="1"/>
          </p:cNvSpPr>
          <p:nvPr>
            <p:ph type="title"/>
          </p:nvPr>
        </p:nvSpPr>
        <p:spPr>
          <a:xfrm>
            <a:off x="0" y="0"/>
            <a:ext cx="12192000" cy="882033"/>
          </a:xfrm>
        </p:spPr>
        <p:txBody>
          <a:bodyPr>
            <a:normAutofit/>
          </a:bodyPr>
          <a:lstStyle/>
          <a:p>
            <a:r>
              <a:rPr lang="en-IN" sz="4800" b="1" dirty="0">
                <a:latin typeface="Times New Roman" panose="02020603050405020304" pitchFamily="18" charset="0"/>
                <a:cs typeface="Times New Roman" panose="02020603050405020304" pitchFamily="18" charset="0"/>
              </a:rPr>
              <a:t>Introduction </a:t>
            </a:r>
          </a:p>
        </p:txBody>
      </p:sp>
      <p:sp>
        <p:nvSpPr>
          <p:cNvPr id="7" name="Date Placeholder 6">
            <a:extLst>
              <a:ext uri="{FF2B5EF4-FFF2-40B4-BE49-F238E27FC236}">
                <a16:creationId xmlns:a16="http://schemas.microsoft.com/office/drawing/2014/main" id="{CFD091D7-A771-3994-660D-1B233481D995}"/>
              </a:ext>
            </a:extLst>
          </p:cNvPr>
          <p:cNvSpPr>
            <a:spLocks noGrp="1"/>
          </p:cNvSpPr>
          <p:nvPr>
            <p:ph type="dt" sz="half" idx="10"/>
          </p:nvPr>
        </p:nvSpPr>
        <p:spPr/>
        <p:txBody>
          <a:bodyPr/>
          <a:lstStyle/>
          <a:p>
            <a:fld id="{CC4B8DD9-BFFB-4CF9-AA1A-7515BF3F5FC7}" type="datetime1">
              <a:rPr lang="en-IN" sz="1400" smtClean="0"/>
              <a:t>11-06-2026</a:t>
            </a:fld>
            <a:endParaRPr lang="en-IN" sz="1400"/>
          </a:p>
        </p:txBody>
      </p:sp>
      <p:sp>
        <p:nvSpPr>
          <p:cNvPr id="8" name="TextBox 7">
            <a:extLst>
              <a:ext uri="{FF2B5EF4-FFF2-40B4-BE49-F238E27FC236}">
                <a16:creationId xmlns:a16="http://schemas.microsoft.com/office/drawing/2014/main" id="{B1F89139-5AD0-6993-4987-6891E1106484}"/>
              </a:ext>
            </a:extLst>
          </p:cNvPr>
          <p:cNvSpPr txBox="1"/>
          <p:nvPr/>
        </p:nvSpPr>
        <p:spPr>
          <a:xfrm>
            <a:off x="-2" y="986131"/>
            <a:ext cx="12191999" cy="1631216"/>
          </a:xfrm>
          <a:prstGeom prst="rect">
            <a:avLst/>
          </a:prstGeom>
          <a:noFill/>
        </p:spPr>
        <p:txBody>
          <a:bodyPr wrap="square">
            <a:spAutoFit/>
          </a:bodyPr>
          <a:lstStyle/>
          <a:p>
            <a:pPr algn="just">
              <a:buNone/>
            </a:pPr>
            <a:r>
              <a:rPr lang="en-US" sz="2000" dirty="0">
                <a:latin typeface="Times New Roman" panose="02020603050405020304" pitchFamily="18" charset="0"/>
                <a:cs typeface="Times New Roman" panose="02020603050405020304" pitchFamily="18" charset="0"/>
              </a:rPr>
              <a:t>The Clinic Management System with Disease Prediction is a full-stack healthcare application designed to automate hospital operations and assist in preliminary disease identification using machine learning.</a:t>
            </a:r>
          </a:p>
          <a:p>
            <a:pPr algn="just">
              <a:buNone/>
            </a:pPr>
            <a:endParaRPr lang="en-US" sz="2000" dirty="0">
              <a:latin typeface="Times New Roman" panose="02020603050405020304" pitchFamily="18" charset="0"/>
              <a:cs typeface="Times New Roman" panose="02020603050405020304" pitchFamily="18" charset="0"/>
            </a:endParaRPr>
          </a:p>
          <a:p>
            <a:pPr algn="just">
              <a:buNone/>
            </a:pPr>
            <a:r>
              <a:rPr lang="en-US" sz="2000" dirty="0">
                <a:latin typeface="Times New Roman" panose="02020603050405020304" pitchFamily="18" charset="0"/>
                <a:cs typeface="Times New Roman" panose="02020603050405020304" pitchFamily="18" charset="0"/>
              </a:rPr>
              <a:t>Traditional clinic systems often rely on manual processes, leading to inefficient appointment scheduling, poor doctor availability management, and lack of intelligent diagnostic support.</a:t>
            </a:r>
          </a:p>
        </p:txBody>
      </p:sp>
      <p:sp>
        <p:nvSpPr>
          <p:cNvPr id="10" name="TextBox 9">
            <a:extLst>
              <a:ext uri="{FF2B5EF4-FFF2-40B4-BE49-F238E27FC236}">
                <a16:creationId xmlns:a16="http://schemas.microsoft.com/office/drawing/2014/main" id="{CC5900A4-FAE1-24E3-B922-7FE646ABB8EA}"/>
              </a:ext>
            </a:extLst>
          </p:cNvPr>
          <p:cNvSpPr txBox="1"/>
          <p:nvPr/>
        </p:nvSpPr>
        <p:spPr>
          <a:xfrm>
            <a:off x="0" y="2786401"/>
            <a:ext cx="9070257" cy="1015663"/>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The system supports these roles: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Patient – Disease prediction &amp; appointment booking</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Clinic Staff/Admin</a:t>
            </a:r>
            <a:r>
              <a:rPr lang="en-US" sz="2000" dirty="0">
                <a:latin typeface="Times New Roman" panose="02020603050405020304" pitchFamily="18" charset="0"/>
                <a:cs typeface="Times New Roman" panose="02020603050405020304" pitchFamily="18" charset="0"/>
              </a:rPr>
              <a:t> – Doctor &amp; slot management</a:t>
            </a:r>
          </a:p>
        </p:txBody>
      </p:sp>
      <p:sp>
        <p:nvSpPr>
          <p:cNvPr id="12" name="TextBox 11">
            <a:extLst>
              <a:ext uri="{FF2B5EF4-FFF2-40B4-BE49-F238E27FC236}">
                <a16:creationId xmlns:a16="http://schemas.microsoft.com/office/drawing/2014/main" id="{8F7C9D25-643C-BD66-9653-F1C62F32FC3A}"/>
              </a:ext>
            </a:extLst>
          </p:cNvPr>
          <p:cNvSpPr txBox="1"/>
          <p:nvPr/>
        </p:nvSpPr>
        <p:spPr>
          <a:xfrm>
            <a:off x="-49162" y="4278894"/>
            <a:ext cx="614516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Secure backend architecture using Spring Boot </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6E9AEA8-1D09-5460-B167-085AD35B67A1}"/>
              </a:ext>
            </a:extLst>
          </p:cNvPr>
          <p:cNvSpPr txBox="1"/>
          <p:nvPr/>
        </p:nvSpPr>
        <p:spPr>
          <a:xfrm>
            <a:off x="-49163" y="4766885"/>
            <a:ext cx="6145160"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Relational database design using MySQL, JPA &amp; Hibernate</a:t>
            </a:r>
            <a:endParaRPr lang="en-IN"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FB9F0A9-A0E3-F41A-3463-0BFBDB17C48B}"/>
              </a:ext>
            </a:extLst>
          </p:cNvPr>
          <p:cNvSpPr txBox="1"/>
          <p:nvPr/>
        </p:nvSpPr>
        <p:spPr>
          <a:xfrm>
            <a:off x="-73745" y="5579632"/>
            <a:ext cx="6169742"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Naive Bayes-based disease prediction model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392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64A63-8779-FB76-D93C-DA60C00A96D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Problem Statement and Objectives</a:t>
            </a:r>
          </a:p>
        </p:txBody>
      </p:sp>
      <p:sp>
        <p:nvSpPr>
          <p:cNvPr id="3" name="Content Placeholder 2">
            <a:extLst>
              <a:ext uri="{FF2B5EF4-FFF2-40B4-BE49-F238E27FC236}">
                <a16:creationId xmlns:a16="http://schemas.microsoft.com/office/drawing/2014/main" id="{6610927D-785D-C925-D642-27A6215876BF}"/>
              </a:ext>
            </a:extLst>
          </p:cNvPr>
          <p:cNvSpPr>
            <a:spLocks noGrp="1"/>
          </p:cNvSpPr>
          <p:nvPr>
            <p:ph idx="1"/>
          </p:nvPr>
        </p:nvSpPr>
        <p:spPr>
          <a:xfrm>
            <a:off x="0" y="962025"/>
            <a:ext cx="12192000" cy="5895975"/>
          </a:xfrm>
        </p:spPr>
        <p:txBody>
          <a:bodyPr>
            <a:normAutofit/>
          </a:bodyPr>
          <a:lstStyle/>
          <a:p>
            <a:pPr marL="0" indent="0">
              <a:lnSpc>
                <a:spcPct val="100000"/>
              </a:lnSpc>
              <a:buNone/>
            </a:pPr>
            <a:r>
              <a:rPr lang="en-IN" sz="2400" b="1" dirty="0">
                <a:latin typeface="Times New Roman" panose="02020603050405020304" pitchFamily="18" charset="0"/>
                <a:cs typeface="Times New Roman" panose="02020603050405020304" pitchFamily="18" charset="0"/>
              </a:rPr>
              <a:t>Problem Statement</a:t>
            </a:r>
          </a:p>
          <a:p>
            <a:pPr marL="0" indent="0">
              <a:buNone/>
            </a:pPr>
            <a:r>
              <a:rPr lang="en-US" sz="1800" dirty="0">
                <a:latin typeface="Times New Roman" panose="02020603050405020304" pitchFamily="18" charset="0"/>
                <a:cs typeface="Times New Roman" panose="02020603050405020304" pitchFamily="18" charset="0"/>
              </a:rPr>
              <a:t>Many clinics still manage appointments and doctor schedules manually. This can cause:</a:t>
            </a:r>
          </a:p>
          <a:p>
            <a:pPr marL="342900" indent="-342900">
              <a:buFont typeface="+mj-lt"/>
              <a:buAutoNum type="arabicParenR"/>
            </a:pPr>
            <a:r>
              <a:rPr lang="en-US" sz="1800" dirty="0">
                <a:latin typeface="Times New Roman" panose="02020603050405020304" pitchFamily="18" charset="0"/>
                <a:cs typeface="Times New Roman" panose="02020603050405020304" pitchFamily="18" charset="0"/>
              </a:rPr>
              <a:t>Delays in booking appointments</a:t>
            </a:r>
          </a:p>
          <a:p>
            <a:pPr marL="342900" indent="-342900">
              <a:buFont typeface="+mj-lt"/>
              <a:buAutoNum type="arabicParenR"/>
            </a:pPr>
            <a:r>
              <a:rPr lang="en-US" sz="1800" dirty="0">
                <a:latin typeface="Times New Roman" panose="02020603050405020304" pitchFamily="18" charset="0"/>
                <a:cs typeface="Times New Roman" panose="02020603050405020304" pitchFamily="18" charset="0"/>
              </a:rPr>
              <a:t>Poor management of doctor time slots</a:t>
            </a:r>
          </a:p>
          <a:p>
            <a:pPr marL="342900" indent="-342900">
              <a:buFont typeface="+mj-lt"/>
              <a:buAutoNum type="arabicParenR"/>
            </a:pPr>
            <a:r>
              <a:rPr lang="en-US" sz="1800" dirty="0">
                <a:latin typeface="Times New Roman" panose="02020603050405020304" pitchFamily="18" charset="0"/>
                <a:cs typeface="Times New Roman" panose="02020603050405020304" pitchFamily="18" charset="0"/>
              </a:rPr>
              <a:t>Difficulty in maintaining patient records</a:t>
            </a:r>
          </a:p>
          <a:p>
            <a:pPr marL="0" indent="0">
              <a:lnSpc>
                <a:spcPct val="100000"/>
              </a:lnSpc>
              <a:buNone/>
            </a:pPr>
            <a:r>
              <a:rPr lang="en-US" sz="1800" dirty="0">
                <a:latin typeface="Times New Roman" panose="02020603050405020304" pitchFamily="18" charset="0"/>
                <a:cs typeface="Times New Roman" panose="02020603050405020304" pitchFamily="18" charset="0"/>
              </a:rPr>
              <a:t>There is a need for a smart and secure system that manages clinic operations and also helps in basic disease prediction.</a:t>
            </a:r>
            <a:endParaRPr lang="en-IN" sz="1800" dirty="0">
              <a:latin typeface="Times New Roman" panose="02020603050405020304" pitchFamily="18" charset="0"/>
              <a:cs typeface="Times New Roman" panose="02020603050405020304" pitchFamily="18" charset="0"/>
            </a:endParaRPr>
          </a:p>
          <a:p>
            <a:pPr marL="0" indent="0" algn="just">
              <a:lnSpc>
                <a:spcPct val="100000"/>
              </a:lnSpc>
              <a:buNone/>
            </a:pPr>
            <a:r>
              <a:rPr lang="en-IN" sz="2400" b="1" dirty="0">
                <a:latin typeface="Times New Roman" panose="02020603050405020304" pitchFamily="18" charset="0"/>
                <a:cs typeface="Times New Roman" panose="02020603050405020304" pitchFamily="18" charset="0"/>
              </a:rPr>
              <a:t>Objectives</a:t>
            </a:r>
          </a:p>
          <a:p>
            <a:pPr lvl="1" algn="just">
              <a:lnSpc>
                <a:spcPct val="150000"/>
              </a:lnSpc>
            </a:pPr>
            <a:r>
              <a:rPr lang="en-IN" sz="1800" dirty="0" err="1">
                <a:latin typeface="Times New Roman" panose="02020603050405020304" pitchFamily="18" charset="0"/>
                <a:cs typeface="Times New Roman" panose="02020603050405020304" pitchFamily="18" charset="0"/>
              </a:rPr>
              <a:t>Obj</a:t>
            </a:r>
            <a:r>
              <a:rPr lang="en-IN" sz="1800" dirty="0">
                <a:latin typeface="Times New Roman" panose="02020603050405020304" pitchFamily="18" charset="0"/>
                <a:cs typeface="Times New Roman" panose="02020603050405020304" pitchFamily="18" charset="0"/>
              </a:rPr>
              <a:t> 1:</a:t>
            </a:r>
            <a:r>
              <a:rPr lang="en-US" sz="1800" dirty="0">
                <a:latin typeface="Times New Roman" panose="02020603050405020304" pitchFamily="18" charset="0"/>
                <a:cs typeface="Times New Roman" panose="02020603050405020304" pitchFamily="18" charset="0"/>
              </a:rPr>
              <a:t>To develop a Clinic Management System with two roles: Patient and  Admin.</a:t>
            </a:r>
          </a:p>
          <a:p>
            <a:pPr lvl="1" algn="just">
              <a:lnSpc>
                <a:spcPct val="150000"/>
              </a:lnSpc>
            </a:pPr>
            <a:r>
              <a:rPr lang="en-IN" sz="1800" dirty="0" err="1">
                <a:latin typeface="Times New Roman" panose="02020603050405020304" pitchFamily="18" charset="0"/>
                <a:cs typeface="Times New Roman" panose="02020603050405020304" pitchFamily="18" charset="0"/>
              </a:rPr>
              <a:t>Obj</a:t>
            </a:r>
            <a:r>
              <a:rPr lang="en-IN" sz="1800" dirty="0">
                <a:latin typeface="Times New Roman" panose="02020603050405020304" pitchFamily="18" charset="0"/>
                <a:cs typeface="Times New Roman" panose="02020603050405020304" pitchFamily="18" charset="0"/>
              </a:rPr>
              <a:t> 2:</a:t>
            </a:r>
            <a:r>
              <a:rPr lang="en-US" sz="1800" dirty="0">
                <a:latin typeface="Times New Roman" panose="02020603050405020304" pitchFamily="18" charset="0"/>
                <a:cs typeface="Times New Roman" panose="02020603050405020304" pitchFamily="18" charset="0"/>
              </a:rPr>
              <a:t>To allow patients to book appointments easily.</a:t>
            </a:r>
          </a:p>
          <a:p>
            <a:pPr lvl="1" algn="just">
              <a:lnSpc>
                <a:spcPct val="150000"/>
              </a:lnSpc>
            </a:pPr>
            <a:r>
              <a:rPr lang="en-IN" sz="1800" dirty="0" err="1">
                <a:latin typeface="Times New Roman" panose="02020603050405020304" pitchFamily="18" charset="0"/>
                <a:cs typeface="Times New Roman" panose="02020603050405020304" pitchFamily="18" charset="0"/>
              </a:rPr>
              <a:t>Obj</a:t>
            </a:r>
            <a:r>
              <a:rPr lang="en-IN" sz="1800" dirty="0">
                <a:latin typeface="Times New Roman" panose="02020603050405020304" pitchFamily="18" charset="0"/>
                <a:cs typeface="Times New Roman" panose="02020603050405020304" pitchFamily="18" charset="0"/>
              </a:rPr>
              <a:t> 3:</a:t>
            </a:r>
            <a:r>
              <a:rPr lang="en-US" sz="1800" dirty="0">
                <a:latin typeface="Times New Roman" panose="02020603050405020304" pitchFamily="18" charset="0"/>
                <a:cs typeface="Times New Roman" panose="02020603050405020304" pitchFamily="18" charset="0"/>
              </a:rPr>
              <a:t> To help hospitals manage doctors and time slots.</a:t>
            </a:r>
          </a:p>
          <a:p>
            <a:pPr lvl="1" algn="just">
              <a:lnSpc>
                <a:spcPct val="150000"/>
              </a:lnSpc>
            </a:pPr>
            <a:r>
              <a:rPr lang="en-US" sz="1800" dirty="0">
                <a:latin typeface="Times New Roman" panose="02020603050405020304" pitchFamily="18" charset="0"/>
                <a:cs typeface="Times New Roman" panose="02020603050405020304" pitchFamily="18" charset="0"/>
              </a:rPr>
              <a:t>Obj 4: To predict diseases using the Naïve Bayes algorithm based on selected symptoms.</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629026E-C694-0503-79F4-D7A626D2A8A9}"/>
              </a:ext>
            </a:extLst>
          </p:cNvPr>
          <p:cNvSpPr>
            <a:spLocks noGrp="1"/>
          </p:cNvSpPr>
          <p:nvPr>
            <p:ph type="sldNum" sz="quarter" idx="12"/>
          </p:nvPr>
        </p:nvSpPr>
        <p:spPr/>
        <p:txBody>
          <a:bodyPr/>
          <a:lstStyle/>
          <a:p>
            <a:fld id="{5B1B64FC-C0C6-4D40-9891-AD39CFB51AC3}" type="slidenum">
              <a:rPr lang="en-IN" smtClean="0"/>
              <a:t>4</a:t>
            </a:fld>
            <a:endParaRPr lang="en-IN"/>
          </a:p>
        </p:txBody>
      </p:sp>
      <p:sp>
        <p:nvSpPr>
          <p:cNvPr id="5" name="Footer Placeholder 4">
            <a:extLst>
              <a:ext uri="{FF2B5EF4-FFF2-40B4-BE49-F238E27FC236}">
                <a16:creationId xmlns:a16="http://schemas.microsoft.com/office/drawing/2014/main" id="{09223079-7432-B5D3-6DE7-C20A894B7D09}"/>
              </a:ext>
            </a:extLst>
          </p:cNvPr>
          <p:cNvSpPr>
            <a:spLocks noGrp="1"/>
          </p:cNvSpPr>
          <p:nvPr>
            <p:ph type="ftr" sz="quarter" idx="11"/>
          </p:nvPr>
        </p:nvSpPr>
        <p:spPr/>
        <p:txBody>
          <a:bodyPr/>
          <a:lstStyle/>
          <a:p>
            <a:r>
              <a:rPr lang="en-IN" dirty="0"/>
              <a:t>SCTR’s PICT, Pune</a:t>
            </a:r>
          </a:p>
        </p:txBody>
      </p:sp>
      <p:sp>
        <p:nvSpPr>
          <p:cNvPr id="7" name="Date Placeholder 6">
            <a:extLst>
              <a:ext uri="{FF2B5EF4-FFF2-40B4-BE49-F238E27FC236}">
                <a16:creationId xmlns:a16="http://schemas.microsoft.com/office/drawing/2014/main" id="{6A57589E-0634-FE58-505A-75DA86B1A6A3}"/>
              </a:ext>
            </a:extLst>
          </p:cNvPr>
          <p:cNvSpPr>
            <a:spLocks noGrp="1"/>
          </p:cNvSpPr>
          <p:nvPr>
            <p:ph type="dt" sz="half" idx="10"/>
          </p:nvPr>
        </p:nvSpPr>
        <p:spPr/>
        <p:txBody>
          <a:bodyPr/>
          <a:lstStyle/>
          <a:p>
            <a:fld id="{6ACBC3D4-20A5-459F-81AA-99526612714F}" type="datetime1">
              <a:rPr lang="en-IN" smtClean="0"/>
              <a:t>11-06-2026</a:t>
            </a:fld>
            <a:endParaRPr lang="en-IN"/>
          </a:p>
        </p:txBody>
      </p:sp>
    </p:spTree>
    <p:extLst>
      <p:ext uri="{BB962C8B-B14F-4D97-AF65-F5344CB8AC3E}">
        <p14:creationId xmlns:p14="http://schemas.microsoft.com/office/powerpoint/2010/main" val="557026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D9F9F5-12C7-4E6D-6AEB-CF9FF7D8C207}"/>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485F0E51-1A48-67C9-AB60-A1084CC86C97}"/>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1219921A-DD55-0DB8-9463-911ECCC26BF1}"/>
              </a:ext>
            </a:extLst>
          </p:cNvPr>
          <p:cNvSpPr>
            <a:spLocks noGrp="1"/>
          </p:cNvSpPr>
          <p:nvPr>
            <p:ph type="sldNum" sz="quarter" idx="12"/>
          </p:nvPr>
        </p:nvSpPr>
        <p:spPr/>
        <p:txBody>
          <a:bodyPr/>
          <a:lstStyle/>
          <a:p>
            <a:fld id="{5B1B64FC-C0C6-4D40-9891-AD39CFB51AC3}" type="slidenum">
              <a:rPr lang="en-IN" smtClean="0"/>
              <a:t>5</a:t>
            </a:fld>
            <a:endParaRPr lang="en-IN"/>
          </a:p>
        </p:txBody>
      </p:sp>
      <p:sp>
        <p:nvSpPr>
          <p:cNvPr id="5" name="Title 4">
            <a:extLst>
              <a:ext uri="{FF2B5EF4-FFF2-40B4-BE49-F238E27FC236}">
                <a16:creationId xmlns:a16="http://schemas.microsoft.com/office/drawing/2014/main" id="{67A2F296-1858-06FF-94A0-858CD0240FC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vs Proposed System</a:t>
            </a:r>
          </a:p>
        </p:txBody>
      </p:sp>
      <p:graphicFrame>
        <p:nvGraphicFramePr>
          <p:cNvPr id="6" name="Table 5">
            <a:extLst>
              <a:ext uri="{FF2B5EF4-FFF2-40B4-BE49-F238E27FC236}">
                <a16:creationId xmlns:a16="http://schemas.microsoft.com/office/drawing/2014/main" id="{D9EA87DA-8696-9A82-1921-2AFF1D9EBAA3}"/>
              </a:ext>
            </a:extLst>
          </p:cNvPr>
          <p:cNvGraphicFramePr>
            <a:graphicFrameLocks noGrp="1"/>
          </p:cNvGraphicFramePr>
          <p:nvPr>
            <p:extLst>
              <p:ext uri="{D42A27DB-BD31-4B8C-83A1-F6EECF244321}">
                <p14:modId xmlns:p14="http://schemas.microsoft.com/office/powerpoint/2010/main" val="1826082095"/>
              </p:ext>
            </p:extLst>
          </p:nvPr>
        </p:nvGraphicFramePr>
        <p:xfrm>
          <a:off x="838200" y="1647452"/>
          <a:ext cx="10515600" cy="356616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3194363418"/>
                    </a:ext>
                  </a:extLst>
                </a:gridCol>
                <a:gridCol w="5257800">
                  <a:extLst>
                    <a:ext uri="{9D8B030D-6E8A-4147-A177-3AD203B41FA5}">
                      <a16:colId xmlns:a16="http://schemas.microsoft.com/office/drawing/2014/main" val="2842670416"/>
                    </a:ext>
                  </a:extLst>
                </a:gridCol>
              </a:tblGrid>
              <a:tr h="0">
                <a:tc>
                  <a:txBody>
                    <a:bodyPr/>
                    <a:lstStyle/>
                    <a:p>
                      <a:pPr>
                        <a:buNone/>
                      </a:pPr>
                      <a:r>
                        <a:rPr lang="en-IN" sz="2000" b="1" dirty="0">
                          <a:latin typeface="Times New Roman" panose="02020603050405020304" pitchFamily="18" charset="0"/>
                          <a:cs typeface="Times New Roman" panose="02020603050405020304" pitchFamily="18" charset="0"/>
                        </a:rPr>
                        <a:t>Existing System </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Proposed System </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46840582"/>
                  </a:ext>
                </a:extLst>
              </a:tr>
              <a:tr h="0">
                <a:tc>
                  <a:txBody>
                    <a:bodyPr/>
                    <a:lstStyle/>
                    <a:p>
                      <a:pPr>
                        <a:buNone/>
                      </a:pPr>
                      <a:r>
                        <a:rPr lang="en-IN" sz="2000">
                          <a:latin typeface="Times New Roman" panose="02020603050405020304" pitchFamily="18" charset="0"/>
                          <a:cs typeface="Times New Roman" panose="02020603050405020304" pitchFamily="18" charset="0"/>
                        </a:rPr>
                        <a:t>Manual appointment booking</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Online appointment booking</a:t>
                      </a:r>
                    </a:p>
                  </a:txBody>
                  <a:tcPr anchor="ctr"/>
                </a:tc>
                <a:extLst>
                  <a:ext uri="{0D108BD9-81ED-4DB2-BD59-A6C34878D82A}">
                    <a16:rowId xmlns:a16="http://schemas.microsoft.com/office/drawing/2014/main" val="2297294007"/>
                  </a:ext>
                </a:extLst>
              </a:tr>
              <a:tr h="0">
                <a:tc>
                  <a:txBody>
                    <a:bodyPr/>
                    <a:lstStyle/>
                    <a:p>
                      <a:pPr>
                        <a:buNone/>
                      </a:pPr>
                      <a:r>
                        <a:rPr lang="en-IN" sz="2000" dirty="0">
                          <a:latin typeface="Times New Roman" panose="02020603050405020304" pitchFamily="18" charset="0"/>
                          <a:cs typeface="Times New Roman" panose="02020603050405020304" pitchFamily="18" charset="0"/>
                        </a:rPr>
                        <a:t>No disease prediction support</a:t>
                      </a:r>
                    </a:p>
                  </a:txBody>
                  <a:tcPr anchor="ctr"/>
                </a:tc>
                <a:tc>
                  <a:txBody>
                    <a:bodyPr/>
                    <a:lstStyle/>
                    <a:p>
                      <a:pPr>
                        <a:buNone/>
                      </a:pPr>
                      <a:r>
                        <a:rPr lang="en-US" sz="2000">
                          <a:latin typeface="Times New Roman" panose="02020603050405020304" pitchFamily="18" charset="0"/>
                          <a:cs typeface="Times New Roman" panose="02020603050405020304" pitchFamily="18" charset="0"/>
                        </a:rPr>
                        <a:t>AI-based disease prediction (Naive Bayes)</a:t>
                      </a:r>
                    </a:p>
                  </a:txBody>
                  <a:tcPr anchor="ctr"/>
                </a:tc>
                <a:extLst>
                  <a:ext uri="{0D108BD9-81ED-4DB2-BD59-A6C34878D82A}">
                    <a16:rowId xmlns:a16="http://schemas.microsoft.com/office/drawing/2014/main" val="3370376071"/>
                  </a:ext>
                </a:extLst>
              </a:tr>
              <a:tr h="0">
                <a:tc>
                  <a:txBody>
                    <a:bodyPr/>
                    <a:lstStyle/>
                    <a:p>
                      <a:pPr>
                        <a:buNone/>
                      </a:pPr>
                      <a:r>
                        <a:rPr lang="en-IN" sz="2000" dirty="0">
                          <a:latin typeface="Times New Roman" panose="02020603050405020304" pitchFamily="18" charset="0"/>
                          <a:cs typeface="Times New Roman" panose="02020603050405020304" pitchFamily="18" charset="0"/>
                        </a:rPr>
                        <a:t>Time-consuming process</a:t>
                      </a:r>
                    </a:p>
                  </a:txBody>
                  <a:tcPr anchor="ctr"/>
                </a:tc>
                <a:tc>
                  <a:txBody>
                    <a:bodyPr/>
                    <a:lstStyle/>
                    <a:p>
                      <a:pPr>
                        <a:buNone/>
                      </a:pPr>
                      <a:r>
                        <a:rPr lang="en-IN" sz="2000">
                          <a:latin typeface="Times New Roman" panose="02020603050405020304" pitchFamily="18" charset="0"/>
                          <a:cs typeface="Times New Roman" panose="02020603050405020304" pitchFamily="18" charset="0"/>
                        </a:rPr>
                        <a:t>Fast and efficient system</a:t>
                      </a:r>
                    </a:p>
                  </a:txBody>
                  <a:tcPr anchor="ctr"/>
                </a:tc>
                <a:extLst>
                  <a:ext uri="{0D108BD9-81ED-4DB2-BD59-A6C34878D82A}">
                    <a16:rowId xmlns:a16="http://schemas.microsoft.com/office/drawing/2014/main" val="531118706"/>
                  </a:ext>
                </a:extLst>
              </a:tr>
              <a:tr h="0">
                <a:tc>
                  <a:txBody>
                    <a:bodyPr/>
                    <a:lstStyle/>
                    <a:p>
                      <a:pPr>
                        <a:buNone/>
                      </a:pPr>
                      <a:r>
                        <a:rPr lang="en-IN" sz="2000" dirty="0">
                          <a:latin typeface="Times New Roman" panose="02020603050405020304" pitchFamily="18" charset="0"/>
                          <a:cs typeface="Times New Roman" panose="02020603050405020304" pitchFamily="18" charset="0"/>
                        </a:rPr>
                        <a:t>Poor doctor availability management</a:t>
                      </a:r>
                    </a:p>
                  </a:txBody>
                  <a:tcPr anchor="ctr"/>
                </a:tc>
                <a:tc>
                  <a:txBody>
                    <a:bodyPr/>
                    <a:lstStyle/>
                    <a:p>
                      <a:pPr>
                        <a:buNone/>
                      </a:pPr>
                      <a:r>
                        <a:rPr lang="en-IN" sz="2000">
                          <a:latin typeface="Times New Roman" panose="02020603050405020304" pitchFamily="18" charset="0"/>
                          <a:cs typeface="Times New Roman" panose="02020603050405020304" pitchFamily="18" charset="0"/>
                        </a:rPr>
                        <a:t>Smart time slot management</a:t>
                      </a:r>
                    </a:p>
                  </a:txBody>
                  <a:tcPr anchor="ctr"/>
                </a:tc>
                <a:extLst>
                  <a:ext uri="{0D108BD9-81ED-4DB2-BD59-A6C34878D82A}">
                    <a16:rowId xmlns:a16="http://schemas.microsoft.com/office/drawing/2014/main" val="244953981"/>
                  </a:ext>
                </a:extLst>
              </a:tr>
              <a:tr h="0">
                <a:tc>
                  <a:txBody>
                    <a:bodyPr/>
                    <a:lstStyle/>
                    <a:p>
                      <a:pPr>
                        <a:buNone/>
                      </a:pPr>
                      <a:r>
                        <a:rPr lang="en-US" sz="2000" dirty="0">
                          <a:latin typeface="Times New Roman" panose="02020603050405020304" pitchFamily="18" charset="0"/>
                          <a:cs typeface="Times New Roman" panose="02020603050405020304" pitchFamily="18" charset="0"/>
                        </a:rPr>
                        <a:t>No integration between diagnosis and booking</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Integrated system (Prediction + Booking)</a:t>
                      </a:r>
                    </a:p>
                  </a:txBody>
                  <a:tcPr anchor="ctr"/>
                </a:tc>
                <a:extLst>
                  <a:ext uri="{0D108BD9-81ED-4DB2-BD59-A6C34878D82A}">
                    <a16:rowId xmlns:a16="http://schemas.microsoft.com/office/drawing/2014/main" val="1321186194"/>
                  </a:ext>
                </a:extLst>
              </a:tr>
              <a:tr h="0">
                <a:tc>
                  <a:txBody>
                    <a:bodyPr/>
                    <a:lstStyle/>
                    <a:p>
                      <a:pPr>
                        <a:buNone/>
                      </a:pPr>
                      <a:r>
                        <a:rPr lang="en-US" sz="2000" dirty="0">
                          <a:latin typeface="Times New Roman" panose="02020603050405020304" pitchFamily="18" charset="0"/>
                          <a:cs typeface="Times New Roman" panose="02020603050405020304" pitchFamily="18" charset="0"/>
                        </a:rPr>
                        <a:t>Higher chances of human errors</a:t>
                      </a:r>
                    </a:p>
                  </a:txBody>
                  <a:tcPr anchor="ctr"/>
                </a:tc>
                <a:tc>
                  <a:txBody>
                    <a:bodyPr/>
                    <a:lstStyle/>
                    <a:p>
                      <a:pPr>
                        <a:buNone/>
                      </a:pPr>
                      <a:r>
                        <a:rPr lang="en-IN" sz="2000">
                          <a:latin typeface="Times New Roman" panose="02020603050405020304" pitchFamily="18" charset="0"/>
                          <a:cs typeface="Times New Roman" panose="02020603050405020304" pitchFamily="18" charset="0"/>
                        </a:rPr>
                        <a:t>Reduced errors through automation</a:t>
                      </a:r>
                    </a:p>
                  </a:txBody>
                  <a:tcPr anchor="ctr"/>
                </a:tc>
                <a:extLst>
                  <a:ext uri="{0D108BD9-81ED-4DB2-BD59-A6C34878D82A}">
                    <a16:rowId xmlns:a16="http://schemas.microsoft.com/office/drawing/2014/main" val="3555794359"/>
                  </a:ext>
                </a:extLst>
              </a:tr>
              <a:tr h="0">
                <a:tc>
                  <a:txBody>
                    <a:bodyPr/>
                    <a:lstStyle/>
                    <a:p>
                      <a:pPr>
                        <a:buNone/>
                      </a:pPr>
                      <a:r>
                        <a:rPr lang="en-IN" sz="2000">
                          <a:latin typeface="Times New Roman" panose="02020603050405020304" pitchFamily="18" charset="0"/>
                          <a:cs typeface="Times New Roman" panose="02020603050405020304" pitchFamily="18" charset="0"/>
                        </a:rPr>
                        <a:t>Limited accessibility</a:t>
                      </a:r>
                    </a:p>
                  </a:txBody>
                  <a:tcPr anchor="ctr"/>
                </a:tc>
                <a:tc>
                  <a:txBody>
                    <a:bodyPr/>
                    <a:lstStyle/>
                    <a:p>
                      <a:pPr>
                        <a:buNone/>
                      </a:pPr>
                      <a:r>
                        <a:rPr lang="en-US" sz="2000">
                          <a:latin typeface="Times New Roman" panose="02020603050405020304" pitchFamily="18" charset="0"/>
                          <a:cs typeface="Times New Roman" panose="02020603050405020304" pitchFamily="18" charset="0"/>
                        </a:rPr>
                        <a:t>Accessible anytime via web system</a:t>
                      </a:r>
                    </a:p>
                  </a:txBody>
                  <a:tcPr anchor="ctr"/>
                </a:tc>
                <a:extLst>
                  <a:ext uri="{0D108BD9-81ED-4DB2-BD59-A6C34878D82A}">
                    <a16:rowId xmlns:a16="http://schemas.microsoft.com/office/drawing/2014/main" val="2768834836"/>
                  </a:ext>
                </a:extLst>
              </a:tr>
              <a:tr h="0">
                <a:tc>
                  <a:txBody>
                    <a:bodyPr/>
                    <a:lstStyle/>
                    <a:p>
                      <a:pPr>
                        <a:buNone/>
                      </a:pPr>
                      <a:r>
                        <a:rPr lang="en-IN" sz="2000" dirty="0">
                          <a:latin typeface="Times New Roman" panose="02020603050405020304" pitchFamily="18" charset="0"/>
                          <a:cs typeface="Times New Roman" panose="02020603050405020304" pitchFamily="18" charset="0"/>
                        </a:rPr>
                        <a:t>No role-based security</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Secure role-based access (Patient, Admin)</a:t>
                      </a:r>
                    </a:p>
                  </a:txBody>
                  <a:tcPr anchor="ctr"/>
                </a:tc>
                <a:extLst>
                  <a:ext uri="{0D108BD9-81ED-4DB2-BD59-A6C34878D82A}">
                    <a16:rowId xmlns:a16="http://schemas.microsoft.com/office/drawing/2014/main" val="536130779"/>
                  </a:ext>
                </a:extLst>
              </a:tr>
            </a:tbl>
          </a:graphicData>
        </a:graphic>
      </p:graphicFrame>
    </p:spTree>
    <p:extLst>
      <p:ext uri="{BB962C8B-B14F-4D97-AF65-F5344CB8AC3E}">
        <p14:creationId xmlns:p14="http://schemas.microsoft.com/office/powerpoint/2010/main" val="542593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6948D3-FD31-9028-6CC5-6F31B1C0DC59}"/>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5C215E9E-9D92-C750-D702-63EF102D1C4E}"/>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47FD22C9-2FA1-56F1-2836-0429361228A4}"/>
              </a:ext>
            </a:extLst>
          </p:cNvPr>
          <p:cNvSpPr>
            <a:spLocks noGrp="1"/>
          </p:cNvSpPr>
          <p:nvPr>
            <p:ph type="sldNum" sz="quarter" idx="12"/>
          </p:nvPr>
        </p:nvSpPr>
        <p:spPr/>
        <p:txBody>
          <a:bodyPr/>
          <a:lstStyle/>
          <a:p>
            <a:fld id="{5B1B64FC-C0C6-4D40-9891-AD39CFB51AC3}" type="slidenum">
              <a:rPr lang="en-IN" smtClean="0"/>
              <a:t>6</a:t>
            </a:fld>
            <a:endParaRPr lang="en-IN"/>
          </a:p>
        </p:txBody>
      </p:sp>
      <p:sp>
        <p:nvSpPr>
          <p:cNvPr id="5" name="Title 4">
            <a:extLst>
              <a:ext uri="{FF2B5EF4-FFF2-40B4-BE49-F238E27FC236}">
                <a16:creationId xmlns:a16="http://schemas.microsoft.com/office/drawing/2014/main" id="{A56B0FDE-A2A7-70E5-6811-988B0BBDFBC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Architecture diagram</a:t>
            </a:r>
          </a:p>
        </p:txBody>
      </p:sp>
      <p:pic>
        <p:nvPicPr>
          <p:cNvPr id="2050" name="Picture 2">
            <a:extLst>
              <a:ext uri="{FF2B5EF4-FFF2-40B4-BE49-F238E27FC236}">
                <a16:creationId xmlns:a16="http://schemas.microsoft.com/office/drawing/2014/main" id="{D49DDB04-81F9-2B86-5C44-5647642A0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0625" y="1031157"/>
            <a:ext cx="4730750" cy="590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5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F6CB9-800C-B3BA-7377-876D7D472407}"/>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49D805DB-3E7A-246F-4AFC-6BDDDD42D98D}"/>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E9EEC43A-4323-8972-A0F1-048D0FA9DF06}"/>
              </a:ext>
            </a:extLst>
          </p:cNvPr>
          <p:cNvSpPr>
            <a:spLocks noGrp="1"/>
          </p:cNvSpPr>
          <p:nvPr>
            <p:ph type="sldNum" sz="quarter" idx="12"/>
          </p:nvPr>
        </p:nvSpPr>
        <p:spPr/>
        <p:txBody>
          <a:bodyPr/>
          <a:lstStyle/>
          <a:p>
            <a:fld id="{5B1B64FC-C0C6-4D40-9891-AD39CFB51AC3}" type="slidenum">
              <a:rPr lang="en-IN" smtClean="0"/>
              <a:t>7</a:t>
            </a:fld>
            <a:endParaRPr lang="en-IN"/>
          </a:p>
        </p:txBody>
      </p:sp>
      <p:sp>
        <p:nvSpPr>
          <p:cNvPr id="5" name="Title 4">
            <a:extLst>
              <a:ext uri="{FF2B5EF4-FFF2-40B4-BE49-F238E27FC236}">
                <a16:creationId xmlns:a16="http://schemas.microsoft.com/office/drawing/2014/main" id="{484D950E-DB5F-E2FF-5410-8A37C292244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Workflow</a:t>
            </a:r>
          </a:p>
        </p:txBody>
      </p:sp>
      <p:pic>
        <p:nvPicPr>
          <p:cNvPr id="3074" name="Picture 2">
            <a:extLst>
              <a:ext uri="{FF2B5EF4-FFF2-40B4-BE49-F238E27FC236}">
                <a16:creationId xmlns:a16="http://schemas.microsoft.com/office/drawing/2014/main" id="{EE9A8AD1-732F-4947-9BDB-6E31A7919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632" y="1042219"/>
            <a:ext cx="3335337" cy="581578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12D15912-BD25-2709-2933-C31BC51D0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0903" y="997359"/>
            <a:ext cx="4245352" cy="590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117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88C99A-D0EF-79F5-6836-A6C41B183749}"/>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FFF86D5-E695-BAFD-77F0-6DCAB22F7AC3}"/>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E2259FD6-CA64-07F8-89F0-0145BB402E90}"/>
              </a:ext>
            </a:extLst>
          </p:cNvPr>
          <p:cNvSpPr>
            <a:spLocks noGrp="1"/>
          </p:cNvSpPr>
          <p:nvPr>
            <p:ph type="sldNum" sz="quarter" idx="12"/>
          </p:nvPr>
        </p:nvSpPr>
        <p:spPr/>
        <p:txBody>
          <a:bodyPr/>
          <a:lstStyle/>
          <a:p>
            <a:fld id="{5B1B64FC-C0C6-4D40-9891-AD39CFB51AC3}" type="slidenum">
              <a:rPr lang="en-IN" smtClean="0"/>
              <a:t>8</a:t>
            </a:fld>
            <a:endParaRPr lang="en-IN"/>
          </a:p>
        </p:txBody>
      </p:sp>
      <p:sp>
        <p:nvSpPr>
          <p:cNvPr id="5" name="Title 4">
            <a:extLst>
              <a:ext uri="{FF2B5EF4-FFF2-40B4-BE49-F238E27FC236}">
                <a16:creationId xmlns:a16="http://schemas.microsoft.com/office/drawing/2014/main" id="{8EA46EE2-1E4A-35C5-A78F-D7FEE11E841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Module-wise</a:t>
            </a:r>
            <a:r>
              <a:rPr lang="en-IN" dirty="0"/>
              <a:t> </a:t>
            </a:r>
            <a:r>
              <a:rPr lang="en-IN" dirty="0">
                <a:latin typeface="Times New Roman" panose="02020603050405020304" pitchFamily="18" charset="0"/>
                <a:cs typeface="Times New Roman" panose="02020603050405020304" pitchFamily="18" charset="0"/>
              </a:rPr>
              <a:t>Explanation</a:t>
            </a:r>
          </a:p>
        </p:txBody>
      </p:sp>
      <p:pic>
        <p:nvPicPr>
          <p:cNvPr id="1026" name="Picture 2">
            <a:extLst>
              <a:ext uri="{FF2B5EF4-FFF2-40B4-BE49-F238E27FC236}">
                <a16:creationId xmlns:a16="http://schemas.microsoft.com/office/drawing/2014/main" id="{2AB4DE3D-E297-DED7-5EFD-8CBB1403B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1845239"/>
            <a:ext cx="9772650"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310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3146D-9DAB-88B2-B313-2769FE27DE16}"/>
              </a:ext>
            </a:extLst>
          </p:cNvPr>
          <p:cNvSpPr>
            <a:spLocks noGrp="1"/>
          </p:cNvSpPr>
          <p:nvPr>
            <p:ph type="title"/>
          </p:nvPr>
        </p:nvSpPr>
        <p:spPr/>
        <p:txBody>
          <a:bodyPr>
            <a:normAutofit fontScale="90000"/>
          </a:bodyPr>
          <a:lstStyle/>
          <a:p>
            <a:br>
              <a:rPr lang="en-US" dirty="0">
                <a:latin typeface="Times New Roman" panose="02020603050405020304" pitchFamily="18" charset="0"/>
                <a:cs typeface="Times New Roman" panose="02020603050405020304" pitchFamily="18" charset="0"/>
              </a:rPr>
            </a:br>
            <a:r>
              <a:rPr lang="en-US" sz="4900" b="1" dirty="0">
                <a:latin typeface="Times New Roman" panose="02020603050405020304" pitchFamily="18" charset="0"/>
                <a:cs typeface="Times New Roman" panose="02020603050405020304" pitchFamily="18" charset="0"/>
              </a:rPr>
              <a:t>Dataset Description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E02EE9F-1281-ADE9-5635-B39B6972DFA9}"/>
              </a:ext>
            </a:extLst>
          </p:cNvPr>
          <p:cNvSpPr>
            <a:spLocks noGrp="1"/>
          </p:cNvSpPr>
          <p:nvPr>
            <p:ph type="dt" sz="half" idx="10"/>
          </p:nvPr>
        </p:nvSpPr>
        <p:spPr/>
        <p:txBody>
          <a:bodyPr/>
          <a:lstStyle/>
          <a:p>
            <a:fld id="{8ACD3BDA-3872-4205-88A1-8BC53D2CB689}" type="datetime1">
              <a:rPr lang="en-IN" smtClean="0">
                <a:latin typeface="Times New Roman" panose="02020603050405020304" pitchFamily="18" charset="0"/>
                <a:cs typeface="Times New Roman" panose="02020603050405020304" pitchFamily="18" charset="0"/>
              </a:rPr>
              <a:t>11-06-2026</a:t>
            </a:fld>
            <a:endParaRPr lang="en-IN">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868AE67-65E2-46A8-9EA6-49DBE6F257EC}"/>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SCTR’s PICT, Pune</a:t>
            </a:r>
          </a:p>
        </p:txBody>
      </p:sp>
      <p:sp>
        <p:nvSpPr>
          <p:cNvPr id="5" name="Slide Number Placeholder 4">
            <a:extLst>
              <a:ext uri="{FF2B5EF4-FFF2-40B4-BE49-F238E27FC236}">
                <a16:creationId xmlns:a16="http://schemas.microsoft.com/office/drawing/2014/main" id="{8562CB5F-CD36-E9D9-A886-2101AF4F0DEA}"/>
              </a:ext>
            </a:extLst>
          </p:cNvPr>
          <p:cNvSpPr>
            <a:spLocks noGrp="1"/>
          </p:cNvSpPr>
          <p:nvPr>
            <p:ph type="sldNum" sz="quarter" idx="12"/>
          </p:nvPr>
        </p:nvSpPr>
        <p:spPr/>
        <p:txBody>
          <a:bodyPr/>
          <a:lstStyle/>
          <a:p>
            <a:fld id="{5B1B64FC-C0C6-4D40-9891-AD39CFB51AC3}" type="slidenum">
              <a:rPr lang="en-IN" smtClean="0">
                <a:latin typeface="Times New Roman" panose="02020603050405020304" pitchFamily="18" charset="0"/>
                <a:cs typeface="Times New Roman" panose="02020603050405020304" pitchFamily="18" charset="0"/>
              </a:rPr>
              <a:t>9</a:t>
            </a:fld>
            <a:endParaRPr lang="en-IN">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5C02FD8-F80F-158F-00DF-F372DF08D407}"/>
              </a:ext>
            </a:extLst>
          </p:cNvPr>
          <p:cNvSpPr txBox="1"/>
          <p:nvPr/>
        </p:nvSpPr>
        <p:spPr>
          <a:xfrm>
            <a:off x="-5080" y="962025"/>
            <a:ext cx="12197080" cy="646331"/>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Dataset Type</a:t>
            </a:r>
          </a:p>
          <a:p>
            <a:pPr>
              <a:buNone/>
            </a:pPr>
            <a:r>
              <a:rPr lang="en-US" dirty="0">
                <a:latin typeface="Times New Roman" panose="02020603050405020304" pitchFamily="18" charset="0"/>
                <a:cs typeface="Times New Roman" panose="02020603050405020304" pitchFamily="18" charset="0"/>
              </a:rPr>
              <a:t>Structured, symptom-based medical dataset used for multi-class disease classification.</a:t>
            </a:r>
          </a:p>
        </p:txBody>
      </p:sp>
      <p:sp>
        <p:nvSpPr>
          <p:cNvPr id="15" name="TextBox 14">
            <a:extLst>
              <a:ext uri="{FF2B5EF4-FFF2-40B4-BE49-F238E27FC236}">
                <a16:creationId xmlns:a16="http://schemas.microsoft.com/office/drawing/2014/main" id="{EB2CDF70-9AFB-8260-4B61-81C1FF0B158F}"/>
              </a:ext>
            </a:extLst>
          </p:cNvPr>
          <p:cNvSpPr txBox="1"/>
          <p:nvPr/>
        </p:nvSpPr>
        <p:spPr>
          <a:xfrm>
            <a:off x="125730" y="3718679"/>
            <a:ext cx="6141720" cy="2723823"/>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Key Characteristics</a:t>
            </a:r>
          </a:p>
          <a:p>
            <a:pPr>
              <a:lnSpc>
                <a:spcPct val="150000"/>
              </a:lnSpc>
            </a:pPr>
            <a:r>
              <a:rPr lang="en-US" dirty="0">
                <a:latin typeface="Times New Roman" panose="02020603050405020304" pitchFamily="18" charset="0"/>
                <a:cs typeface="Times New Roman" panose="02020603050405020304" pitchFamily="18" charset="0"/>
              </a:rPr>
              <a:t>Multi-class classification dataset </a:t>
            </a:r>
          </a:p>
          <a:p>
            <a:pPr>
              <a:lnSpc>
                <a:spcPct val="150000"/>
              </a:lnSpc>
            </a:pPr>
            <a:r>
              <a:rPr lang="en-US" dirty="0">
                <a:latin typeface="Times New Roman" panose="02020603050405020304" pitchFamily="18" charset="0"/>
                <a:cs typeface="Times New Roman" panose="02020603050405020304" pitchFamily="18" charset="0"/>
              </a:rPr>
              <a:t>Each disease linked with: </a:t>
            </a:r>
          </a:p>
          <a:p>
            <a:pPr lvl="1">
              <a:lnSpc>
                <a:spcPct val="150000"/>
              </a:lnSpc>
            </a:pPr>
            <a:r>
              <a:rPr lang="en-US" dirty="0">
                <a:latin typeface="Times New Roman" panose="02020603050405020304" pitchFamily="18" charset="0"/>
                <a:cs typeface="Times New Roman" panose="02020603050405020304" pitchFamily="18" charset="0"/>
              </a:rPr>
              <a:t>5 symptoms </a:t>
            </a:r>
          </a:p>
          <a:p>
            <a:pPr lvl="1">
              <a:lnSpc>
                <a:spcPct val="150000"/>
              </a:lnSpc>
            </a:pPr>
            <a:r>
              <a:rPr lang="en-US" dirty="0">
                <a:latin typeface="Times New Roman" panose="02020603050405020304" pitchFamily="18" charset="0"/>
                <a:cs typeface="Times New Roman" panose="02020603050405020304" pitchFamily="18" charset="0"/>
              </a:rPr>
              <a:t>1 doctor specialization </a:t>
            </a:r>
          </a:p>
          <a:p>
            <a:pPr>
              <a:lnSpc>
                <a:spcPct val="150000"/>
              </a:lnSpc>
            </a:pPr>
            <a:r>
              <a:rPr lang="en-US" dirty="0">
                <a:latin typeface="Times New Roman" panose="02020603050405020304" pitchFamily="18" charset="0"/>
                <a:cs typeface="Times New Roman" panose="02020603050405020304" pitchFamily="18" charset="0"/>
              </a:rPr>
              <a:t>Supports both </a:t>
            </a:r>
            <a:r>
              <a:rPr lang="en-US" b="1" dirty="0">
                <a:latin typeface="Times New Roman" panose="02020603050405020304" pitchFamily="18" charset="0"/>
                <a:cs typeface="Times New Roman" panose="02020603050405020304" pitchFamily="18" charset="0"/>
              </a:rPr>
              <a:t>prediction + recommendation</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88A7D2C-D06D-0FB0-E3A5-4198AB57334C}"/>
              </a:ext>
            </a:extLst>
          </p:cNvPr>
          <p:cNvSpPr txBox="1"/>
          <p:nvPr/>
        </p:nvSpPr>
        <p:spPr>
          <a:xfrm>
            <a:off x="-36952" y="1608356"/>
            <a:ext cx="613041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Dataset Structure</a:t>
            </a:r>
          </a:p>
        </p:txBody>
      </p:sp>
      <p:graphicFrame>
        <p:nvGraphicFramePr>
          <p:cNvPr id="8" name="Table 7">
            <a:extLst>
              <a:ext uri="{FF2B5EF4-FFF2-40B4-BE49-F238E27FC236}">
                <a16:creationId xmlns:a16="http://schemas.microsoft.com/office/drawing/2014/main" id="{9FF266E7-5683-0613-0E7A-9B409509C9B9}"/>
              </a:ext>
            </a:extLst>
          </p:cNvPr>
          <p:cNvGraphicFramePr>
            <a:graphicFrameLocks noGrp="1"/>
          </p:cNvGraphicFramePr>
          <p:nvPr>
            <p:extLst>
              <p:ext uri="{D42A27DB-BD31-4B8C-83A1-F6EECF244321}">
                <p14:modId xmlns:p14="http://schemas.microsoft.com/office/powerpoint/2010/main" val="356303698"/>
              </p:ext>
            </p:extLst>
          </p:nvPr>
        </p:nvGraphicFramePr>
        <p:xfrm>
          <a:off x="1848158" y="2113329"/>
          <a:ext cx="8134041" cy="1463040"/>
        </p:xfrm>
        <a:graphic>
          <a:graphicData uri="http://schemas.openxmlformats.org/drawingml/2006/table">
            <a:tbl>
              <a:tblPr>
                <a:tableStyleId>{5940675A-B579-460E-94D1-54222C63F5DA}</a:tableStyleId>
              </a:tblPr>
              <a:tblGrid>
                <a:gridCol w="3503047">
                  <a:extLst>
                    <a:ext uri="{9D8B030D-6E8A-4147-A177-3AD203B41FA5}">
                      <a16:colId xmlns:a16="http://schemas.microsoft.com/office/drawing/2014/main" val="591943952"/>
                    </a:ext>
                  </a:extLst>
                </a:gridCol>
                <a:gridCol w="4630994">
                  <a:extLst>
                    <a:ext uri="{9D8B030D-6E8A-4147-A177-3AD203B41FA5}">
                      <a16:colId xmlns:a16="http://schemas.microsoft.com/office/drawing/2014/main" val="2912398025"/>
                    </a:ext>
                  </a:extLst>
                </a:gridCol>
              </a:tblGrid>
              <a:tr h="0">
                <a:tc>
                  <a:txBody>
                    <a:bodyPr/>
                    <a:lstStyle/>
                    <a:p>
                      <a:pPr algn="l">
                        <a:buNone/>
                      </a:pPr>
                      <a:r>
                        <a:rPr lang="en-IN" b="1">
                          <a:latin typeface="Times New Roman" panose="02020603050405020304" pitchFamily="18" charset="0"/>
                          <a:cs typeface="Times New Roman" panose="02020603050405020304" pitchFamily="18" charset="0"/>
                        </a:rPr>
                        <a:t>Column Name</a:t>
                      </a:r>
                    </a:p>
                  </a:txBody>
                  <a:tcPr anchor="ctr"/>
                </a:tc>
                <a:tc>
                  <a:txBody>
                    <a:bodyPr/>
                    <a:lstStyle/>
                    <a:p>
                      <a:pPr algn="l">
                        <a:buNone/>
                      </a:pPr>
                      <a:r>
                        <a:rPr lang="en-IN" b="1" dirty="0">
                          <a:latin typeface="Times New Roman" panose="02020603050405020304" pitchFamily="18" charset="0"/>
                          <a:cs typeface="Times New Roman" panose="02020603050405020304" pitchFamily="18" charset="0"/>
                        </a:rPr>
                        <a:t>Description</a:t>
                      </a:r>
                    </a:p>
                  </a:txBody>
                  <a:tcPr anchor="ctr"/>
                </a:tc>
                <a:extLst>
                  <a:ext uri="{0D108BD9-81ED-4DB2-BD59-A6C34878D82A}">
                    <a16:rowId xmlns:a16="http://schemas.microsoft.com/office/drawing/2014/main" val="3972863830"/>
                  </a:ext>
                </a:extLst>
              </a:tr>
              <a:tr h="0">
                <a:tc>
                  <a:txBody>
                    <a:bodyPr/>
                    <a:lstStyle/>
                    <a:p>
                      <a:pPr algn="l">
                        <a:buNone/>
                      </a:pPr>
                      <a:r>
                        <a:rPr lang="en-IN">
                          <a:latin typeface="Times New Roman" panose="02020603050405020304" pitchFamily="18" charset="0"/>
                          <a:cs typeface="Times New Roman" panose="02020603050405020304" pitchFamily="18" charset="0"/>
                        </a:rPr>
                        <a:t>Disease</a:t>
                      </a:r>
                    </a:p>
                  </a:txBody>
                  <a:tcPr anchor="ctr"/>
                </a:tc>
                <a:tc>
                  <a:txBody>
                    <a:bodyPr/>
                    <a:lstStyle/>
                    <a:p>
                      <a:pPr algn="l">
                        <a:buNone/>
                      </a:pPr>
                      <a:r>
                        <a:rPr lang="en-IN">
                          <a:latin typeface="Times New Roman" panose="02020603050405020304" pitchFamily="18" charset="0"/>
                          <a:cs typeface="Times New Roman" panose="02020603050405020304" pitchFamily="18" charset="0"/>
                        </a:rPr>
                        <a:t>Target variable (Predicted output)</a:t>
                      </a:r>
                    </a:p>
                  </a:txBody>
                  <a:tcPr anchor="ctr"/>
                </a:tc>
                <a:extLst>
                  <a:ext uri="{0D108BD9-81ED-4DB2-BD59-A6C34878D82A}">
                    <a16:rowId xmlns:a16="http://schemas.microsoft.com/office/drawing/2014/main" val="2751755909"/>
                  </a:ext>
                </a:extLst>
              </a:tr>
              <a:tr h="0">
                <a:tc>
                  <a:txBody>
                    <a:bodyPr/>
                    <a:lstStyle/>
                    <a:p>
                      <a:pPr algn="l">
                        <a:buNone/>
                      </a:pPr>
                      <a:r>
                        <a:rPr lang="en-IN" dirty="0">
                          <a:latin typeface="Times New Roman" panose="02020603050405020304" pitchFamily="18" charset="0"/>
                          <a:cs typeface="Times New Roman" panose="02020603050405020304" pitchFamily="18" charset="0"/>
                        </a:rPr>
                        <a:t>Specialization</a:t>
                      </a:r>
                    </a:p>
                  </a:txBody>
                  <a:tcPr anchor="ctr"/>
                </a:tc>
                <a:tc>
                  <a:txBody>
                    <a:bodyPr/>
                    <a:lstStyle/>
                    <a:p>
                      <a:pPr algn="l">
                        <a:buNone/>
                      </a:pPr>
                      <a:r>
                        <a:rPr lang="en-IN">
                          <a:latin typeface="Times New Roman" panose="02020603050405020304" pitchFamily="18" charset="0"/>
                          <a:cs typeface="Times New Roman" panose="02020603050405020304" pitchFamily="18" charset="0"/>
                        </a:rPr>
                        <a:t>Type of doctor required</a:t>
                      </a:r>
                    </a:p>
                  </a:txBody>
                  <a:tcPr anchor="ctr"/>
                </a:tc>
                <a:extLst>
                  <a:ext uri="{0D108BD9-81ED-4DB2-BD59-A6C34878D82A}">
                    <a16:rowId xmlns:a16="http://schemas.microsoft.com/office/drawing/2014/main" val="3623042976"/>
                  </a:ext>
                </a:extLst>
              </a:tr>
              <a:tr h="0">
                <a:tc>
                  <a:txBody>
                    <a:bodyPr/>
                    <a:lstStyle/>
                    <a:p>
                      <a:pPr algn="l">
                        <a:buNone/>
                      </a:pPr>
                      <a:r>
                        <a:rPr lang="en-IN">
                          <a:latin typeface="Times New Roman" panose="02020603050405020304" pitchFamily="18" charset="0"/>
                          <a:cs typeface="Times New Roman" panose="02020603050405020304" pitchFamily="18" charset="0"/>
                        </a:rPr>
                        <a:t>Symptom1–Symptom5</a:t>
                      </a:r>
                    </a:p>
                  </a:txBody>
                  <a:tcPr anchor="ctr"/>
                </a:tc>
                <a:tc>
                  <a:txBody>
                    <a:bodyPr/>
                    <a:lstStyle/>
                    <a:p>
                      <a:pPr algn="l">
                        <a:buNone/>
                      </a:pPr>
                      <a:r>
                        <a:rPr lang="en-US" dirty="0">
                          <a:latin typeface="Times New Roman" panose="02020603050405020304" pitchFamily="18" charset="0"/>
                          <a:cs typeface="Times New Roman" panose="02020603050405020304" pitchFamily="18" charset="0"/>
                        </a:rPr>
                        <a:t>Symptoms associated with the disease</a:t>
                      </a:r>
                    </a:p>
                  </a:txBody>
                  <a:tcPr anchor="ctr"/>
                </a:tc>
                <a:extLst>
                  <a:ext uri="{0D108BD9-81ED-4DB2-BD59-A6C34878D82A}">
                    <a16:rowId xmlns:a16="http://schemas.microsoft.com/office/drawing/2014/main" val="4157356680"/>
                  </a:ext>
                </a:extLst>
              </a:tr>
            </a:tbl>
          </a:graphicData>
        </a:graphic>
      </p:graphicFrame>
    </p:spTree>
    <p:extLst>
      <p:ext uri="{BB962C8B-B14F-4D97-AF65-F5344CB8AC3E}">
        <p14:creationId xmlns:p14="http://schemas.microsoft.com/office/powerpoint/2010/main" val="352483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BD8C-9061-4FC6-339C-72160D0562D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Methodology</a:t>
            </a:r>
          </a:p>
        </p:txBody>
      </p:sp>
      <p:sp>
        <p:nvSpPr>
          <p:cNvPr id="3" name="Date Placeholder 2">
            <a:extLst>
              <a:ext uri="{FF2B5EF4-FFF2-40B4-BE49-F238E27FC236}">
                <a16:creationId xmlns:a16="http://schemas.microsoft.com/office/drawing/2014/main" id="{8EF52D1A-2D8C-5270-9490-513AEC37BFE8}"/>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FB87E202-2A89-11ED-4479-4D67F7300EA3}"/>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EBD24B58-0ED9-8397-CD57-F37E60C800CD}"/>
              </a:ext>
            </a:extLst>
          </p:cNvPr>
          <p:cNvSpPr>
            <a:spLocks noGrp="1"/>
          </p:cNvSpPr>
          <p:nvPr>
            <p:ph type="sldNum" sz="quarter" idx="12"/>
          </p:nvPr>
        </p:nvSpPr>
        <p:spPr/>
        <p:txBody>
          <a:bodyPr/>
          <a:lstStyle/>
          <a:p>
            <a:fld id="{5B1B64FC-C0C6-4D40-9891-AD39CFB51AC3}" type="slidenum">
              <a:rPr lang="en-IN" smtClean="0"/>
              <a:t>10</a:t>
            </a:fld>
            <a:endParaRPr lang="en-IN"/>
          </a:p>
        </p:txBody>
      </p:sp>
      <p:sp>
        <p:nvSpPr>
          <p:cNvPr id="7" name="TextBox 6">
            <a:extLst>
              <a:ext uri="{FF2B5EF4-FFF2-40B4-BE49-F238E27FC236}">
                <a16:creationId xmlns:a16="http://schemas.microsoft.com/office/drawing/2014/main" id="{814F3B60-3CCB-59C9-F975-9414AC803AEE}"/>
              </a:ext>
            </a:extLst>
          </p:cNvPr>
          <p:cNvSpPr txBox="1"/>
          <p:nvPr/>
        </p:nvSpPr>
        <p:spPr>
          <a:xfrm>
            <a:off x="0" y="1204020"/>
            <a:ext cx="12192000" cy="369331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To identify the best performing algorithm, four classification models were trained and evaluated:</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 Decision Tree</a:t>
            </a:r>
          </a:p>
          <a:p>
            <a:r>
              <a:rPr lang="en-US" dirty="0">
                <a:latin typeface="Times New Roman" panose="02020603050405020304" pitchFamily="18" charset="0"/>
                <a:cs typeface="Times New Roman" panose="02020603050405020304" pitchFamily="18" charset="0"/>
              </a:rPr>
              <a:t>2). Random Forest</a:t>
            </a:r>
          </a:p>
          <a:p>
            <a:r>
              <a:rPr lang="en-US" dirty="0">
                <a:latin typeface="Times New Roman" panose="02020603050405020304" pitchFamily="18" charset="0"/>
                <a:cs typeface="Times New Roman" panose="02020603050405020304" pitchFamily="18" charset="0"/>
              </a:rPr>
              <a:t>3). Naive Bayes</a:t>
            </a:r>
          </a:p>
          <a:p>
            <a:r>
              <a:rPr lang="en-US" dirty="0">
                <a:latin typeface="Times New Roman" panose="02020603050405020304" pitchFamily="18" charset="0"/>
                <a:cs typeface="Times New Roman" panose="02020603050405020304" pitchFamily="18" charset="0"/>
              </a:rPr>
              <a:t>4). Support Vector Machine (SVM)</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Evaluation Metrics Used: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Accuracy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Stability (Standard Deviation of Accuracy)</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The model with highest accuracy and lowest variance was selected.</a:t>
            </a:r>
          </a:p>
        </p:txBody>
      </p:sp>
    </p:spTree>
    <p:extLst>
      <p:ext uri="{BB962C8B-B14F-4D97-AF65-F5344CB8AC3E}">
        <p14:creationId xmlns:p14="http://schemas.microsoft.com/office/powerpoint/2010/main" val="943615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065EAC-3F01-6038-1669-E7D4AEDA669C}"/>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1B249E85-FBD2-314A-EC41-0DB317734F26}"/>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0E46D8F5-D3A3-C15D-56D0-E70ACDC16479}"/>
              </a:ext>
            </a:extLst>
          </p:cNvPr>
          <p:cNvSpPr>
            <a:spLocks noGrp="1"/>
          </p:cNvSpPr>
          <p:nvPr>
            <p:ph type="sldNum" sz="quarter" idx="12"/>
          </p:nvPr>
        </p:nvSpPr>
        <p:spPr/>
        <p:txBody>
          <a:bodyPr/>
          <a:lstStyle/>
          <a:p>
            <a:fld id="{5B1B64FC-C0C6-4D40-9891-AD39CFB51AC3}" type="slidenum">
              <a:rPr lang="en-IN" smtClean="0"/>
              <a:t>11</a:t>
            </a:fld>
            <a:endParaRPr lang="en-IN"/>
          </a:p>
        </p:txBody>
      </p:sp>
      <p:sp>
        <p:nvSpPr>
          <p:cNvPr id="5" name="Title 4">
            <a:extLst>
              <a:ext uri="{FF2B5EF4-FFF2-40B4-BE49-F238E27FC236}">
                <a16:creationId xmlns:a16="http://schemas.microsoft.com/office/drawing/2014/main" id="{E90C8BCB-B5AC-D4BF-814B-31983ACC6A1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Model Performance Comparison</a:t>
            </a:r>
          </a:p>
        </p:txBody>
      </p:sp>
      <p:pic>
        <p:nvPicPr>
          <p:cNvPr id="11" name="Picture 10">
            <a:extLst>
              <a:ext uri="{FF2B5EF4-FFF2-40B4-BE49-F238E27FC236}">
                <a16:creationId xmlns:a16="http://schemas.microsoft.com/office/drawing/2014/main" id="{770A3171-47E9-A9F3-B38F-E9204E2A37FD}"/>
              </a:ext>
            </a:extLst>
          </p:cNvPr>
          <p:cNvPicPr>
            <a:picLocks noChangeAspect="1"/>
          </p:cNvPicPr>
          <p:nvPr/>
        </p:nvPicPr>
        <p:blipFill>
          <a:blip r:embed="rId2"/>
          <a:stretch>
            <a:fillRect/>
          </a:stretch>
        </p:blipFill>
        <p:spPr>
          <a:xfrm>
            <a:off x="142240" y="1043032"/>
            <a:ext cx="11907520" cy="5697492"/>
          </a:xfrm>
          <a:prstGeom prst="rect">
            <a:avLst/>
          </a:prstGeom>
        </p:spPr>
      </p:pic>
    </p:spTree>
    <p:extLst>
      <p:ext uri="{BB962C8B-B14F-4D97-AF65-F5344CB8AC3E}">
        <p14:creationId xmlns:p14="http://schemas.microsoft.com/office/powerpoint/2010/main" val="4114720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44D62-C4A3-B465-C9B4-754A4591C1F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7885BFD-7890-C9E5-7749-F31154A04CB0}"/>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E1C302CB-96BF-17EC-5840-18F952164D41}"/>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11ED0F04-1C3E-6F76-DC25-A0B430C75C03}"/>
              </a:ext>
            </a:extLst>
          </p:cNvPr>
          <p:cNvSpPr>
            <a:spLocks noGrp="1"/>
          </p:cNvSpPr>
          <p:nvPr>
            <p:ph type="sldNum" sz="quarter" idx="12"/>
          </p:nvPr>
        </p:nvSpPr>
        <p:spPr/>
        <p:txBody>
          <a:bodyPr/>
          <a:lstStyle/>
          <a:p>
            <a:fld id="{5B1B64FC-C0C6-4D40-9891-AD39CFB51AC3}" type="slidenum">
              <a:rPr lang="en-IN" smtClean="0"/>
              <a:t>12</a:t>
            </a:fld>
            <a:endParaRPr lang="en-IN"/>
          </a:p>
        </p:txBody>
      </p:sp>
      <p:sp>
        <p:nvSpPr>
          <p:cNvPr id="5" name="Title 4">
            <a:extLst>
              <a:ext uri="{FF2B5EF4-FFF2-40B4-BE49-F238E27FC236}">
                <a16:creationId xmlns:a16="http://schemas.microsoft.com/office/drawing/2014/main" id="{1455D94C-1530-812C-DC7C-2D3C1DF784E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Model Performance Comparison</a:t>
            </a:r>
          </a:p>
        </p:txBody>
      </p:sp>
      <p:pic>
        <p:nvPicPr>
          <p:cNvPr id="9" name="Picture 8">
            <a:extLst>
              <a:ext uri="{FF2B5EF4-FFF2-40B4-BE49-F238E27FC236}">
                <a16:creationId xmlns:a16="http://schemas.microsoft.com/office/drawing/2014/main" id="{7807247D-7BFB-0D6A-1254-6EE2977458BB}"/>
              </a:ext>
            </a:extLst>
          </p:cNvPr>
          <p:cNvPicPr>
            <a:picLocks noChangeAspect="1"/>
          </p:cNvPicPr>
          <p:nvPr/>
        </p:nvPicPr>
        <p:blipFill>
          <a:blip r:embed="rId2"/>
          <a:stretch>
            <a:fillRect/>
          </a:stretch>
        </p:blipFill>
        <p:spPr>
          <a:xfrm>
            <a:off x="5354320" y="1059934"/>
            <a:ext cx="6837680" cy="4295775"/>
          </a:xfrm>
          <a:prstGeom prst="rect">
            <a:avLst/>
          </a:prstGeom>
        </p:spPr>
      </p:pic>
      <p:sp>
        <p:nvSpPr>
          <p:cNvPr id="12" name="TextBox 11">
            <a:extLst>
              <a:ext uri="{FF2B5EF4-FFF2-40B4-BE49-F238E27FC236}">
                <a16:creationId xmlns:a16="http://schemas.microsoft.com/office/drawing/2014/main" id="{88FA8AD4-E603-2E7A-71E0-427102845D61}"/>
              </a:ext>
            </a:extLst>
          </p:cNvPr>
          <p:cNvSpPr txBox="1"/>
          <p:nvPr/>
        </p:nvSpPr>
        <p:spPr>
          <a:xfrm>
            <a:off x="-5080" y="1235670"/>
            <a:ext cx="610108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Final Model Selected: Naive Bayes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DCF6B02-2799-5A03-5495-06468EDEA518}"/>
              </a:ext>
            </a:extLst>
          </p:cNvPr>
          <p:cNvSpPr txBox="1"/>
          <p:nvPr/>
        </p:nvSpPr>
        <p:spPr>
          <a:xfrm>
            <a:off x="0" y="1918950"/>
            <a:ext cx="6126480" cy="1015663"/>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Reason for Selection:</a:t>
            </a:r>
          </a:p>
          <a:p>
            <a:r>
              <a:rPr lang="en-US" sz="2000" dirty="0">
                <a:latin typeface="Times New Roman" panose="02020603050405020304" pitchFamily="18" charset="0"/>
                <a:cs typeface="Times New Roman" panose="02020603050405020304" pitchFamily="18" charset="0"/>
              </a:rPr>
              <a:t>Highest accuracy (95.5%)</a:t>
            </a:r>
          </a:p>
          <a:p>
            <a:r>
              <a:rPr lang="en-US" sz="2000" dirty="0">
                <a:latin typeface="Times New Roman" panose="02020603050405020304" pitchFamily="18" charset="0"/>
                <a:cs typeface="Times New Roman" panose="02020603050405020304" pitchFamily="18" charset="0"/>
              </a:rPr>
              <a:t>Lowest variance (0.029)</a:t>
            </a:r>
          </a:p>
        </p:txBody>
      </p:sp>
    </p:spTree>
    <p:extLst>
      <p:ext uri="{BB962C8B-B14F-4D97-AF65-F5344CB8AC3E}">
        <p14:creationId xmlns:p14="http://schemas.microsoft.com/office/powerpoint/2010/main" val="3335970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8FC0F-C84B-C144-8095-7DAA55092F10}"/>
              </a:ext>
            </a:extLst>
          </p:cNvPr>
          <p:cNvSpPr>
            <a:spLocks noGrp="1"/>
          </p:cNvSpPr>
          <p:nvPr>
            <p:ph type="title"/>
          </p:nvPr>
        </p:nvSpPr>
        <p:spPr>
          <a:xfrm>
            <a:off x="0" y="0"/>
            <a:ext cx="12192000" cy="953295"/>
          </a:xfrm>
        </p:spPr>
        <p:txBody>
          <a:bodyPr/>
          <a:lstStyle/>
          <a:p>
            <a:r>
              <a:rPr lang="en-IN" b="1" dirty="0">
                <a:latin typeface="Times New Roman" panose="02020603050405020304" pitchFamily="18" charset="0"/>
                <a:cs typeface="Times New Roman" panose="02020603050405020304" pitchFamily="18" charset="0"/>
              </a:rPr>
              <a:t>Model Comparison</a:t>
            </a:r>
            <a:endParaRPr lang="en-US" b="1" dirty="0"/>
          </a:p>
        </p:txBody>
      </p:sp>
      <p:sp>
        <p:nvSpPr>
          <p:cNvPr id="3" name="Date Placeholder 2">
            <a:extLst>
              <a:ext uri="{FF2B5EF4-FFF2-40B4-BE49-F238E27FC236}">
                <a16:creationId xmlns:a16="http://schemas.microsoft.com/office/drawing/2014/main" id="{52BDB41B-E02C-141B-9DD9-2128DC6F2EBD}"/>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849E6387-FEFF-3E13-44B6-01A9D2646A8A}"/>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22863F09-ED52-2BEA-7BA1-1B3A8F2E50DF}"/>
              </a:ext>
            </a:extLst>
          </p:cNvPr>
          <p:cNvSpPr>
            <a:spLocks noGrp="1"/>
          </p:cNvSpPr>
          <p:nvPr>
            <p:ph type="sldNum" sz="quarter" idx="12"/>
          </p:nvPr>
        </p:nvSpPr>
        <p:spPr/>
        <p:txBody>
          <a:bodyPr/>
          <a:lstStyle/>
          <a:p>
            <a:fld id="{5B1B64FC-C0C6-4D40-9891-AD39CFB51AC3}" type="slidenum">
              <a:rPr lang="en-IN" smtClean="0"/>
              <a:t>13</a:t>
            </a:fld>
            <a:endParaRPr lang="en-IN"/>
          </a:p>
        </p:txBody>
      </p:sp>
      <p:graphicFrame>
        <p:nvGraphicFramePr>
          <p:cNvPr id="6" name="Table 5">
            <a:extLst>
              <a:ext uri="{FF2B5EF4-FFF2-40B4-BE49-F238E27FC236}">
                <a16:creationId xmlns:a16="http://schemas.microsoft.com/office/drawing/2014/main" id="{6BC032A1-7DB0-3266-2A94-DC234AAE3248}"/>
              </a:ext>
            </a:extLst>
          </p:cNvPr>
          <p:cNvGraphicFramePr>
            <a:graphicFrameLocks noGrp="1"/>
          </p:cNvGraphicFramePr>
          <p:nvPr>
            <p:extLst>
              <p:ext uri="{D42A27DB-BD31-4B8C-83A1-F6EECF244321}">
                <p14:modId xmlns:p14="http://schemas.microsoft.com/office/powerpoint/2010/main" val="3118640056"/>
              </p:ext>
            </p:extLst>
          </p:nvPr>
        </p:nvGraphicFramePr>
        <p:xfrm>
          <a:off x="2133600" y="1253331"/>
          <a:ext cx="7924800" cy="4351338"/>
        </p:xfrm>
        <a:graphic>
          <a:graphicData uri="http://schemas.openxmlformats.org/drawingml/2006/table">
            <a:tbl>
              <a:tblPr>
                <a:tableStyleId>{5940675A-B579-460E-94D1-54222C63F5DA}</a:tableStyleId>
              </a:tblPr>
              <a:tblGrid>
                <a:gridCol w="1452880">
                  <a:extLst>
                    <a:ext uri="{9D8B030D-6E8A-4147-A177-3AD203B41FA5}">
                      <a16:colId xmlns:a16="http://schemas.microsoft.com/office/drawing/2014/main" val="3557256669"/>
                    </a:ext>
                  </a:extLst>
                </a:gridCol>
                <a:gridCol w="1493520">
                  <a:extLst>
                    <a:ext uri="{9D8B030D-6E8A-4147-A177-3AD203B41FA5}">
                      <a16:colId xmlns:a16="http://schemas.microsoft.com/office/drawing/2014/main" val="2034757817"/>
                    </a:ext>
                  </a:extLst>
                </a:gridCol>
                <a:gridCol w="1920240">
                  <a:extLst>
                    <a:ext uri="{9D8B030D-6E8A-4147-A177-3AD203B41FA5}">
                      <a16:colId xmlns:a16="http://schemas.microsoft.com/office/drawing/2014/main" val="2264895530"/>
                    </a:ext>
                  </a:extLst>
                </a:gridCol>
                <a:gridCol w="3058160">
                  <a:extLst>
                    <a:ext uri="{9D8B030D-6E8A-4147-A177-3AD203B41FA5}">
                      <a16:colId xmlns:a16="http://schemas.microsoft.com/office/drawing/2014/main" val="1718360656"/>
                    </a:ext>
                  </a:extLst>
                </a:gridCol>
              </a:tblGrid>
              <a:tr h="395576">
                <a:tc>
                  <a:txBody>
                    <a:bodyPr/>
                    <a:lstStyle/>
                    <a:p>
                      <a:pPr algn="ctr">
                        <a:buNone/>
                      </a:pPr>
                      <a:r>
                        <a:rPr lang="en-IN" sz="1600" b="1" dirty="0">
                          <a:latin typeface="Times New Roman" panose="02020603050405020304" pitchFamily="18" charset="0"/>
                          <a:cs typeface="Times New Roman" panose="02020603050405020304" pitchFamily="18" charset="0"/>
                        </a:rPr>
                        <a:t>Model</a:t>
                      </a:r>
                    </a:p>
                  </a:txBody>
                  <a:tcPr marL="56511" marR="56511" marT="28255" marB="28255" anchor="ctr"/>
                </a:tc>
                <a:tc>
                  <a:txBody>
                    <a:bodyPr/>
                    <a:lstStyle/>
                    <a:p>
                      <a:pPr algn="ctr">
                        <a:buNone/>
                      </a:pPr>
                      <a:r>
                        <a:rPr lang="en-IN" sz="1600" b="1">
                          <a:latin typeface="Times New Roman" panose="02020603050405020304" pitchFamily="18" charset="0"/>
                          <a:cs typeface="Times New Roman" panose="02020603050405020304" pitchFamily="18" charset="0"/>
                        </a:rPr>
                        <a:t>Accuracy</a:t>
                      </a:r>
                    </a:p>
                  </a:txBody>
                  <a:tcPr marL="56511" marR="56511" marT="28255" marB="28255" anchor="ctr"/>
                </a:tc>
                <a:tc>
                  <a:txBody>
                    <a:bodyPr/>
                    <a:lstStyle/>
                    <a:p>
                      <a:pPr algn="ctr">
                        <a:buNone/>
                      </a:pPr>
                      <a:r>
                        <a:rPr lang="en-IN" sz="1600" b="1">
                          <a:latin typeface="Times New Roman" panose="02020603050405020304" pitchFamily="18" charset="0"/>
                          <a:cs typeface="Times New Roman" panose="02020603050405020304" pitchFamily="18" charset="0"/>
                        </a:rPr>
                        <a:t>Stability (Std Dev)</a:t>
                      </a:r>
                    </a:p>
                  </a:txBody>
                  <a:tcPr marL="56511" marR="56511" marT="28255" marB="28255" anchor="ctr"/>
                </a:tc>
                <a:tc>
                  <a:txBody>
                    <a:bodyPr/>
                    <a:lstStyle/>
                    <a:p>
                      <a:pPr algn="ctr">
                        <a:buNone/>
                      </a:pPr>
                      <a:r>
                        <a:rPr lang="en-US" sz="1600" b="1" dirty="0">
                          <a:latin typeface="Times New Roman" panose="02020603050405020304" pitchFamily="18" charset="0"/>
                          <a:cs typeface="Times New Roman" panose="02020603050405020304" pitchFamily="18" charset="0"/>
                        </a:rPr>
                        <a:t>Why It Did Not Perform Best</a:t>
                      </a:r>
                    </a:p>
                  </a:txBody>
                  <a:tcPr marL="56511" marR="56511" marT="28255" marB="28255" anchor="ctr"/>
                </a:tc>
                <a:extLst>
                  <a:ext uri="{0D108BD9-81ED-4DB2-BD59-A6C34878D82A}">
                    <a16:rowId xmlns:a16="http://schemas.microsoft.com/office/drawing/2014/main" val="127223999"/>
                  </a:ext>
                </a:extLst>
              </a:tr>
              <a:tr h="904174">
                <a:tc>
                  <a:txBody>
                    <a:bodyPr/>
                    <a:lstStyle/>
                    <a:p>
                      <a:pPr algn="ctr">
                        <a:buNone/>
                      </a:pPr>
                      <a:r>
                        <a:rPr lang="en-IN" sz="1600" b="0" dirty="0">
                          <a:latin typeface="Times New Roman" panose="02020603050405020304" pitchFamily="18" charset="0"/>
                          <a:cs typeface="Times New Roman" panose="02020603050405020304" pitchFamily="18" charset="0"/>
                        </a:rPr>
                        <a:t>Decision Tree</a:t>
                      </a:r>
                    </a:p>
                  </a:txBody>
                  <a:tcPr marL="56511" marR="56511" marT="28255" marB="28255" anchor="ctr"/>
                </a:tc>
                <a:tc>
                  <a:txBody>
                    <a:bodyPr/>
                    <a:lstStyle/>
                    <a:p>
                      <a:pPr algn="ctr">
                        <a:buNone/>
                      </a:pPr>
                      <a:r>
                        <a:rPr lang="en-IN" sz="1600" dirty="0">
                          <a:latin typeface="Times New Roman" panose="02020603050405020304" pitchFamily="18" charset="0"/>
                          <a:cs typeface="Times New Roman" panose="02020603050405020304" pitchFamily="18" charset="0"/>
                        </a:rPr>
                        <a:t>84.0%</a:t>
                      </a:r>
                    </a:p>
                  </a:txBody>
                  <a:tcPr marL="56511" marR="56511" marT="28255" marB="28255" anchor="ctr"/>
                </a:tc>
                <a:tc>
                  <a:txBody>
                    <a:bodyPr/>
                    <a:lstStyle/>
                    <a:p>
                      <a:pPr algn="ctr">
                        <a:buNone/>
                      </a:pPr>
                      <a:r>
                        <a:rPr lang="en-IN" sz="1600">
                          <a:latin typeface="Times New Roman" panose="02020603050405020304" pitchFamily="18" charset="0"/>
                          <a:cs typeface="Times New Roman" panose="02020603050405020304" pitchFamily="18" charset="0"/>
                        </a:rPr>
                        <a:t>0.066</a:t>
                      </a:r>
                    </a:p>
                  </a:txBody>
                  <a:tcPr marL="56511" marR="56511" marT="28255" marB="28255" anchor="ctr"/>
                </a:tc>
                <a:tc>
                  <a:txBody>
                    <a:bodyPr/>
                    <a:lstStyle/>
                    <a:p>
                      <a:pPr algn="ctr">
                        <a:buNone/>
                      </a:pPr>
                      <a:r>
                        <a:rPr lang="en-US" sz="1600" dirty="0"/>
                        <a:t>It overfits on small datasets and is sensitive to small changes in data, which reduces overall reliability.</a:t>
                      </a:r>
                      <a:endParaRPr lang="en-US" sz="1600" dirty="0">
                        <a:latin typeface="Times New Roman" panose="02020603050405020304" pitchFamily="18" charset="0"/>
                        <a:cs typeface="Times New Roman" panose="02020603050405020304" pitchFamily="18" charset="0"/>
                      </a:endParaRPr>
                    </a:p>
                  </a:txBody>
                  <a:tcPr marL="56511" marR="56511" marT="28255" marB="28255" anchor="ctr"/>
                </a:tc>
                <a:extLst>
                  <a:ext uri="{0D108BD9-81ED-4DB2-BD59-A6C34878D82A}">
                    <a16:rowId xmlns:a16="http://schemas.microsoft.com/office/drawing/2014/main" val="88463723"/>
                  </a:ext>
                </a:extLst>
              </a:tr>
              <a:tr h="1073707">
                <a:tc>
                  <a:txBody>
                    <a:bodyPr/>
                    <a:lstStyle/>
                    <a:p>
                      <a:pPr algn="ctr">
                        <a:buNone/>
                      </a:pPr>
                      <a:r>
                        <a:rPr lang="en-IN" sz="1600" b="0" dirty="0">
                          <a:latin typeface="Times New Roman" panose="02020603050405020304" pitchFamily="18" charset="0"/>
                          <a:cs typeface="Times New Roman" panose="02020603050405020304" pitchFamily="18" charset="0"/>
                        </a:rPr>
                        <a:t>Random Forest</a:t>
                      </a:r>
                    </a:p>
                  </a:txBody>
                  <a:tcPr marL="56511" marR="56511" marT="28255" marB="28255" anchor="ctr"/>
                </a:tc>
                <a:tc>
                  <a:txBody>
                    <a:bodyPr/>
                    <a:lstStyle/>
                    <a:p>
                      <a:pPr algn="ctr">
                        <a:buNone/>
                      </a:pPr>
                      <a:r>
                        <a:rPr lang="en-IN" sz="1600" dirty="0">
                          <a:latin typeface="Times New Roman" panose="02020603050405020304" pitchFamily="18" charset="0"/>
                          <a:cs typeface="Times New Roman" panose="02020603050405020304" pitchFamily="18" charset="0"/>
                        </a:rPr>
                        <a:t>95.0%</a:t>
                      </a:r>
                    </a:p>
                  </a:txBody>
                  <a:tcPr marL="56511" marR="56511" marT="28255" marB="28255" anchor="ctr"/>
                </a:tc>
                <a:tc>
                  <a:txBody>
                    <a:bodyPr/>
                    <a:lstStyle/>
                    <a:p>
                      <a:pPr algn="ctr">
                        <a:buNone/>
                      </a:pPr>
                      <a:r>
                        <a:rPr lang="en-IN" sz="1600" dirty="0">
                          <a:latin typeface="Times New Roman" panose="02020603050405020304" pitchFamily="18" charset="0"/>
                          <a:cs typeface="Times New Roman" panose="02020603050405020304" pitchFamily="18" charset="0"/>
                        </a:rPr>
                        <a:t>0.032</a:t>
                      </a:r>
                    </a:p>
                  </a:txBody>
                  <a:tcPr marL="56511" marR="56511" marT="28255" marB="28255" anchor="ctr"/>
                </a:tc>
                <a:tc>
                  <a:txBody>
                    <a:bodyPr/>
                    <a:lstStyle/>
                    <a:p>
                      <a:pPr algn="ctr">
                        <a:buNone/>
                      </a:pPr>
                      <a:r>
                        <a:rPr lang="en-US" sz="1600" dirty="0">
                          <a:latin typeface="Times New Roman" panose="02020603050405020304" pitchFamily="18" charset="0"/>
                          <a:cs typeface="Times New Roman" panose="02020603050405020304" pitchFamily="18" charset="0"/>
                        </a:rPr>
                        <a:t>More complex model; requires larger dataset for optimal learning; slightly higher variance</a:t>
                      </a:r>
                    </a:p>
                  </a:txBody>
                  <a:tcPr marL="56511" marR="56511" marT="28255" marB="28255" anchor="ctr"/>
                </a:tc>
                <a:extLst>
                  <a:ext uri="{0D108BD9-81ED-4DB2-BD59-A6C34878D82A}">
                    <a16:rowId xmlns:a16="http://schemas.microsoft.com/office/drawing/2014/main" val="580403723"/>
                  </a:ext>
                </a:extLst>
              </a:tr>
              <a:tr h="904174">
                <a:tc>
                  <a:txBody>
                    <a:bodyPr/>
                    <a:lstStyle/>
                    <a:p>
                      <a:pPr algn="ctr">
                        <a:buNone/>
                      </a:pPr>
                      <a:r>
                        <a:rPr lang="en-IN" sz="1600" b="0">
                          <a:latin typeface="Times New Roman" panose="02020603050405020304" pitchFamily="18" charset="0"/>
                          <a:cs typeface="Times New Roman" panose="02020603050405020304" pitchFamily="18" charset="0"/>
                        </a:rPr>
                        <a:t>SVM</a:t>
                      </a:r>
                    </a:p>
                  </a:txBody>
                  <a:tcPr marL="56511" marR="56511" marT="28255" marB="28255" anchor="ctr"/>
                </a:tc>
                <a:tc>
                  <a:txBody>
                    <a:bodyPr/>
                    <a:lstStyle/>
                    <a:p>
                      <a:pPr algn="ctr">
                        <a:buNone/>
                      </a:pPr>
                      <a:r>
                        <a:rPr lang="en-IN" sz="1600">
                          <a:latin typeface="Times New Roman" panose="02020603050405020304" pitchFamily="18" charset="0"/>
                          <a:cs typeface="Times New Roman" panose="02020603050405020304" pitchFamily="18" charset="0"/>
                        </a:rPr>
                        <a:t>94.0%</a:t>
                      </a:r>
                    </a:p>
                  </a:txBody>
                  <a:tcPr marL="56511" marR="56511" marT="28255" marB="28255" anchor="ctr"/>
                </a:tc>
                <a:tc>
                  <a:txBody>
                    <a:bodyPr/>
                    <a:lstStyle/>
                    <a:p>
                      <a:pPr algn="ctr">
                        <a:buNone/>
                      </a:pPr>
                      <a:r>
                        <a:rPr lang="en-IN" sz="1600" dirty="0">
                          <a:latin typeface="Times New Roman" panose="02020603050405020304" pitchFamily="18" charset="0"/>
                          <a:cs typeface="Times New Roman" panose="02020603050405020304" pitchFamily="18" charset="0"/>
                        </a:rPr>
                        <a:t>0.034</a:t>
                      </a:r>
                    </a:p>
                  </a:txBody>
                  <a:tcPr marL="56511" marR="56511" marT="28255" marB="28255" anchor="ctr"/>
                </a:tc>
                <a:tc>
                  <a:txBody>
                    <a:bodyPr/>
                    <a:lstStyle/>
                    <a:p>
                      <a:pPr algn="ctr">
                        <a:buNone/>
                      </a:pPr>
                      <a:r>
                        <a:rPr lang="en-US" sz="1600" dirty="0">
                          <a:latin typeface="Times New Roman" panose="02020603050405020304" pitchFamily="18" charset="0"/>
                          <a:cs typeface="Times New Roman" panose="02020603050405020304" pitchFamily="18" charset="0"/>
                        </a:rPr>
                        <a:t> works better for high-dimensional numeric data</a:t>
                      </a:r>
                    </a:p>
                  </a:txBody>
                  <a:tcPr marL="56511" marR="56511" marT="28255" marB="28255" anchor="ctr"/>
                </a:tc>
                <a:extLst>
                  <a:ext uri="{0D108BD9-81ED-4DB2-BD59-A6C34878D82A}">
                    <a16:rowId xmlns:a16="http://schemas.microsoft.com/office/drawing/2014/main" val="2950990543"/>
                  </a:ext>
                </a:extLst>
              </a:tr>
              <a:tr h="1073707">
                <a:tc>
                  <a:txBody>
                    <a:bodyPr/>
                    <a:lstStyle/>
                    <a:p>
                      <a:pPr algn="ctr">
                        <a:buNone/>
                      </a:pPr>
                      <a:r>
                        <a:rPr lang="en-IN" sz="1600" b="0" dirty="0">
                          <a:latin typeface="Times New Roman" panose="02020603050405020304" pitchFamily="18" charset="0"/>
                          <a:cs typeface="Times New Roman" panose="02020603050405020304" pitchFamily="18" charset="0"/>
                        </a:rPr>
                        <a:t>Naïve Bayes</a:t>
                      </a:r>
                    </a:p>
                  </a:txBody>
                  <a:tcPr marL="56511" marR="56511" marT="28255" marB="28255" anchor="ctr"/>
                </a:tc>
                <a:tc>
                  <a:txBody>
                    <a:bodyPr/>
                    <a:lstStyle/>
                    <a:p>
                      <a:pPr algn="ctr">
                        <a:buNone/>
                      </a:pPr>
                      <a:r>
                        <a:rPr lang="en-IN" sz="1600" b="0">
                          <a:latin typeface="Times New Roman" panose="02020603050405020304" pitchFamily="18" charset="0"/>
                          <a:cs typeface="Times New Roman" panose="02020603050405020304" pitchFamily="18" charset="0"/>
                        </a:rPr>
                        <a:t>95.5%</a:t>
                      </a:r>
                    </a:p>
                  </a:txBody>
                  <a:tcPr marL="56511" marR="56511" marT="28255" marB="28255" anchor="ctr"/>
                </a:tc>
                <a:tc>
                  <a:txBody>
                    <a:bodyPr/>
                    <a:lstStyle/>
                    <a:p>
                      <a:pPr algn="ctr">
                        <a:buNone/>
                      </a:pPr>
                      <a:r>
                        <a:rPr lang="en-IN" sz="1600" b="0" dirty="0">
                          <a:latin typeface="Times New Roman" panose="02020603050405020304" pitchFamily="18" charset="0"/>
                          <a:cs typeface="Times New Roman" panose="02020603050405020304" pitchFamily="18" charset="0"/>
                        </a:rPr>
                        <a:t>0.029</a:t>
                      </a:r>
                    </a:p>
                  </a:txBody>
                  <a:tcPr marL="56511" marR="56511" marT="28255" marB="28255" anchor="ctr"/>
                </a:tc>
                <a:tc>
                  <a:txBody>
                    <a:bodyPr/>
                    <a:lstStyle/>
                    <a:p>
                      <a:pPr algn="ctr">
                        <a:buNone/>
                      </a:pPr>
                      <a:r>
                        <a:rPr lang="en-IN" sz="1600" b="0" dirty="0">
                          <a:latin typeface="Times New Roman" panose="02020603050405020304" pitchFamily="18" charset="0"/>
                          <a:cs typeface="Times New Roman" panose="02020603050405020304" pitchFamily="18" charset="0"/>
                        </a:rPr>
                        <a:t>—</a:t>
                      </a:r>
                    </a:p>
                  </a:txBody>
                  <a:tcPr marL="56511" marR="56511" marT="28255" marB="28255" anchor="ctr"/>
                </a:tc>
                <a:extLst>
                  <a:ext uri="{0D108BD9-81ED-4DB2-BD59-A6C34878D82A}">
                    <a16:rowId xmlns:a16="http://schemas.microsoft.com/office/drawing/2014/main" val="2604287496"/>
                  </a:ext>
                </a:extLst>
              </a:tr>
            </a:tbl>
          </a:graphicData>
        </a:graphic>
      </p:graphicFrame>
    </p:spTree>
    <p:extLst>
      <p:ext uri="{BB962C8B-B14F-4D97-AF65-F5344CB8AC3E}">
        <p14:creationId xmlns:p14="http://schemas.microsoft.com/office/powerpoint/2010/main" val="3871397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2C0BF-3EEA-BC32-BB02-27D16DD42080}"/>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B94C586-A736-AA24-4AED-FE117D711BC0}"/>
              </a:ext>
            </a:extLst>
          </p:cNvPr>
          <p:cNvSpPr>
            <a:spLocks noGrp="1"/>
          </p:cNvSpPr>
          <p:nvPr>
            <p:ph type="ftr" sz="quarter" idx="11"/>
          </p:nvPr>
        </p:nvSpPr>
        <p:spPr/>
        <p:txBody>
          <a:bodyPr/>
          <a:lstStyle/>
          <a:p>
            <a:r>
              <a:rPr lang="en-IN" dirty="0"/>
              <a:t>SCTR’s PICT, Pune</a:t>
            </a:r>
          </a:p>
        </p:txBody>
      </p:sp>
      <p:sp>
        <p:nvSpPr>
          <p:cNvPr id="4" name="Slide Number Placeholder 3">
            <a:extLst>
              <a:ext uri="{FF2B5EF4-FFF2-40B4-BE49-F238E27FC236}">
                <a16:creationId xmlns:a16="http://schemas.microsoft.com/office/drawing/2014/main" id="{758405BB-6ACF-C886-A8E7-77FD66DF93D7}"/>
              </a:ext>
            </a:extLst>
          </p:cNvPr>
          <p:cNvSpPr>
            <a:spLocks noGrp="1"/>
          </p:cNvSpPr>
          <p:nvPr>
            <p:ph type="sldNum" sz="quarter" idx="12"/>
          </p:nvPr>
        </p:nvSpPr>
        <p:spPr/>
        <p:txBody>
          <a:bodyPr/>
          <a:lstStyle/>
          <a:p>
            <a:fld id="{5B1B64FC-C0C6-4D40-9891-AD39CFB51AC3}" type="slidenum">
              <a:rPr lang="en-IN" smtClean="0"/>
              <a:t>14</a:t>
            </a:fld>
            <a:endParaRPr lang="en-IN"/>
          </a:p>
        </p:txBody>
      </p:sp>
      <p:sp>
        <p:nvSpPr>
          <p:cNvPr id="5" name="Title 4">
            <a:extLst>
              <a:ext uri="{FF2B5EF4-FFF2-40B4-BE49-F238E27FC236}">
                <a16:creationId xmlns:a16="http://schemas.microsoft.com/office/drawing/2014/main" id="{8C1C860E-B6C6-B6F3-8232-3749B505D099}"/>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System Implementation</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CFEF241-987A-B75F-E788-ABE77A805783}"/>
              </a:ext>
            </a:extLst>
          </p:cNvPr>
          <p:cNvSpPr txBox="1"/>
          <p:nvPr/>
        </p:nvSpPr>
        <p:spPr>
          <a:xfrm>
            <a:off x="166370" y="1162040"/>
            <a:ext cx="6101080" cy="400110"/>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9A3DFCC-836C-3FC7-CB65-CE9BBE596B80}"/>
              </a:ext>
            </a:extLst>
          </p:cNvPr>
          <p:cNvSpPr txBox="1"/>
          <p:nvPr/>
        </p:nvSpPr>
        <p:spPr>
          <a:xfrm>
            <a:off x="115120" y="1362095"/>
            <a:ext cx="6272980" cy="2535566"/>
          </a:xfrm>
          <a:prstGeom prst="rect">
            <a:avLst/>
          </a:prstGeom>
          <a:noFill/>
        </p:spPr>
        <p:txBody>
          <a:bodyPr wrap="square">
            <a:spAutoFit/>
          </a:bodyPr>
          <a:lstStyle/>
          <a:p>
            <a:pPr>
              <a:lnSpc>
                <a:spcPct val="150000"/>
              </a:lnSpc>
              <a:buNone/>
            </a:pPr>
            <a:r>
              <a:rPr lang="en-US" dirty="0">
                <a:latin typeface="Times New Roman" panose="02020603050405020304" pitchFamily="18" charset="0"/>
                <a:cs typeface="Times New Roman" panose="02020603050405020304" pitchFamily="18" charset="0"/>
              </a:rPr>
              <a:t>The system is implemented using a full-stack architecture integrating:</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Frontend (UI)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Backend (Spring Boot)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Database (MySQL)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Machine Learning Model (Naive Bayes) </a:t>
            </a:r>
          </a:p>
        </p:txBody>
      </p:sp>
      <p:sp>
        <p:nvSpPr>
          <p:cNvPr id="11" name="TextBox 10">
            <a:extLst>
              <a:ext uri="{FF2B5EF4-FFF2-40B4-BE49-F238E27FC236}">
                <a16:creationId xmlns:a16="http://schemas.microsoft.com/office/drawing/2014/main" id="{57E99018-E179-01A8-BDD9-3ACD28B455A6}"/>
              </a:ext>
            </a:extLst>
          </p:cNvPr>
          <p:cNvSpPr txBox="1"/>
          <p:nvPr/>
        </p:nvSpPr>
        <p:spPr>
          <a:xfrm>
            <a:off x="6267450" y="1370071"/>
            <a:ext cx="6100916" cy="2535566"/>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Backend Implementation</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Developed using Spring Boot (Java 17)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Follows MVC Architecture: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Controller Layer → Handles requests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Service Layer → Business logic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Repository Layer → Database operations </a:t>
            </a:r>
          </a:p>
        </p:txBody>
      </p:sp>
    </p:spTree>
    <p:extLst>
      <p:ext uri="{BB962C8B-B14F-4D97-AF65-F5344CB8AC3E}">
        <p14:creationId xmlns:p14="http://schemas.microsoft.com/office/powerpoint/2010/main" val="530836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91EA92-CA54-68F1-9519-093E68D9A64A}"/>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17BD64C8-91E3-C482-4699-63DBE2AEDFBB}"/>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7C9A62FE-AE8B-5C74-B1B3-60AF0DCB2A96}"/>
              </a:ext>
            </a:extLst>
          </p:cNvPr>
          <p:cNvSpPr>
            <a:spLocks noGrp="1"/>
          </p:cNvSpPr>
          <p:nvPr>
            <p:ph type="sldNum" sz="quarter" idx="12"/>
          </p:nvPr>
        </p:nvSpPr>
        <p:spPr/>
        <p:txBody>
          <a:bodyPr/>
          <a:lstStyle/>
          <a:p>
            <a:fld id="{5B1B64FC-C0C6-4D40-9891-AD39CFB51AC3}" type="slidenum">
              <a:rPr lang="en-IN" smtClean="0"/>
              <a:t>15</a:t>
            </a:fld>
            <a:endParaRPr lang="en-IN"/>
          </a:p>
        </p:txBody>
      </p:sp>
      <p:sp>
        <p:nvSpPr>
          <p:cNvPr id="5" name="Title 4">
            <a:extLst>
              <a:ext uri="{FF2B5EF4-FFF2-40B4-BE49-F238E27FC236}">
                <a16:creationId xmlns:a16="http://schemas.microsoft.com/office/drawing/2014/main" id="{5B3EDB90-1C27-96C4-DF3C-5F9309119B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Implementation</a:t>
            </a:r>
          </a:p>
        </p:txBody>
      </p:sp>
      <p:sp>
        <p:nvSpPr>
          <p:cNvPr id="7" name="TextBox 6">
            <a:extLst>
              <a:ext uri="{FF2B5EF4-FFF2-40B4-BE49-F238E27FC236}">
                <a16:creationId xmlns:a16="http://schemas.microsoft.com/office/drawing/2014/main" id="{43899560-A211-E1E5-E637-0E18C45A92BE}"/>
              </a:ext>
            </a:extLst>
          </p:cNvPr>
          <p:cNvSpPr txBox="1"/>
          <p:nvPr/>
        </p:nvSpPr>
        <p:spPr>
          <a:xfrm>
            <a:off x="166534" y="1355625"/>
            <a:ext cx="6100916" cy="3366563"/>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Frontend Implementation</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Built using: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HTML, CSS, Bootstrap </a:t>
            </a:r>
          </a:p>
          <a:p>
            <a:pPr marL="742950" lvl="1"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Thymeleaf</a:t>
            </a:r>
            <a:r>
              <a:rPr lang="en-IN" dirty="0">
                <a:latin typeface="Times New Roman" panose="02020603050405020304" pitchFamily="18" charset="0"/>
                <a:cs typeface="Times New Roman" panose="02020603050405020304" pitchFamily="18" charset="0"/>
              </a:rPr>
              <a:t> (dynamic rendering)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Dashboard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Disease Prediction UI </a:t>
            </a:r>
          </a:p>
          <a:p>
            <a:pPr marL="742950" lvl="1"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Appointment Booking Interface</a:t>
            </a:r>
          </a:p>
        </p:txBody>
      </p:sp>
      <p:sp>
        <p:nvSpPr>
          <p:cNvPr id="9" name="TextBox 8">
            <a:extLst>
              <a:ext uri="{FF2B5EF4-FFF2-40B4-BE49-F238E27FC236}">
                <a16:creationId xmlns:a16="http://schemas.microsoft.com/office/drawing/2014/main" id="{F24C17EC-2452-0BF6-FF9F-1524E64DD514}"/>
              </a:ext>
            </a:extLst>
          </p:cNvPr>
          <p:cNvSpPr txBox="1"/>
          <p:nvPr/>
        </p:nvSpPr>
        <p:spPr>
          <a:xfrm>
            <a:off x="6267450" y="1355625"/>
            <a:ext cx="6100916" cy="3366563"/>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Database Implementation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MySQL relational database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Managed using Spring Data JPA &amp; Hibernate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Doctors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Appointments </a:t>
            </a:r>
          </a:p>
          <a:p>
            <a:pPr marL="742950" lvl="1"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Slots</a:t>
            </a:r>
          </a:p>
        </p:txBody>
      </p:sp>
    </p:spTree>
    <p:extLst>
      <p:ext uri="{BB962C8B-B14F-4D97-AF65-F5344CB8AC3E}">
        <p14:creationId xmlns:p14="http://schemas.microsoft.com/office/powerpoint/2010/main" val="2182911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27AC66-5D02-60B1-9BE7-2C604A87AC85}"/>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413B14A7-73FE-B7EF-05C9-37A8B4D390EE}"/>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40D64A54-60B0-587A-4705-AB1281DAE03A}"/>
              </a:ext>
            </a:extLst>
          </p:cNvPr>
          <p:cNvSpPr>
            <a:spLocks noGrp="1"/>
          </p:cNvSpPr>
          <p:nvPr>
            <p:ph type="sldNum" sz="quarter" idx="12"/>
          </p:nvPr>
        </p:nvSpPr>
        <p:spPr/>
        <p:txBody>
          <a:bodyPr/>
          <a:lstStyle/>
          <a:p>
            <a:fld id="{5B1B64FC-C0C6-4D40-9891-AD39CFB51AC3}" type="slidenum">
              <a:rPr lang="en-IN" smtClean="0"/>
              <a:t>16</a:t>
            </a:fld>
            <a:endParaRPr lang="en-IN"/>
          </a:p>
        </p:txBody>
      </p:sp>
      <p:sp>
        <p:nvSpPr>
          <p:cNvPr id="5" name="Title 4">
            <a:extLst>
              <a:ext uri="{FF2B5EF4-FFF2-40B4-BE49-F238E27FC236}">
                <a16:creationId xmlns:a16="http://schemas.microsoft.com/office/drawing/2014/main" id="{DB16FDF4-6C4F-8469-2235-AA879976182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Database Design &amp; Relationships</a:t>
            </a:r>
          </a:p>
        </p:txBody>
      </p:sp>
      <p:pic>
        <p:nvPicPr>
          <p:cNvPr id="7" name="Picture 6">
            <a:extLst>
              <a:ext uri="{FF2B5EF4-FFF2-40B4-BE49-F238E27FC236}">
                <a16:creationId xmlns:a16="http://schemas.microsoft.com/office/drawing/2014/main" id="{1CB83720-E1CD-3C03-A324-06C6224888E5}"/>
              </a:ext>
            </a:extLst>
          </p:cNvPr>
          <p:cNvPicPr>
            <a:picLocks noChangeAspect="1"/>
          </p:cNvPicPr>
          <p:nvPr/>
        </p:nvPicPr>
        <p:blipFill>
          <a:blip r:embed="rId2"/>
          <a:stretch>
            <a:fillRect/>
          </a:stretch>
        </p:blipFill>
        <p:spPr>
          <a:xfrm>
            <a:off x="2923715" y="1143029"/>
            <a:ext cx="5544010" cy="5714971"/>
          </a:xfrm>
          <a:prstGeom prst="rect">
            <a:avLst/>
          </a:prstGeom>
        </p:spPr>
      </p:pic>
    </p:spTree>
    <p:extLst>
      <p:ext uri="{BB962C8B-B14F-4D97-AF65-F5344CB8AC3E}">
        <p14:creationId xmlns:p14="http://schemas.microsoft.com/office/powerpoint/2010/main" val="1940623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170BC3-32E9-36A1-38A0-D66DFF035D2F}"/>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FEF563D3-8E7B-3040-2186-CB98DFCA5D6F}"/>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59E7D585-204C-B22C-6CE4-6C66BBD11060}"/>
              </a:ext>
            </a:extLst>
          </p:cNvPr>
          <p:cNvSpPr>
            <a:spLocks noGrp="1"/>
          </p:cNvSpPr>
          <p:nvPr>
            <p:ph type="sldNum" sz="quarter" idx="12"/>
          </p:nvPr>
        </p:nvSpPr>
        <p:spPr/>
        <p:txBody>
          <a:bodyPr/>
          <a:lstStyle/>
          <a:p>
            <a:fld id="{5B1B64FC-C0C6-4D40-9891-AD39CFB51AC3}" type="slidenum">
              <a:rPr lang="en-IN" smtClean="0"/>
              <a:t>17</a:t>
            </a:fld>
            <a:endParaRPr lang="en-IN"/>
          </a:p>
        </p:txBody>
      </p:sp>
      <p:sp>
        <p:nvSpPr>
          <p:cNvPr id="5" name="Title 4">
            <a:extLst>
              <a:ext uri="{FF2B5EF4-FFF2-40B4-BE49-F238E27FC236}">
                <a16:creationId xmlns:a16="http://schemas.microsoft.com/office/drawing/2014/main" id="{C7E54574-2B0B-6D65-BB5D-BC79220E92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Database Design &amp; Relationships</a:t>
            </a:r>
          </a:p>
        </p:txBody>
      </p:sp>
      <p:sp>
        <p:nvSpPr>
          <p:cNvPr id="7" name="TextBox 6">
            <a:extLst>
              <a:ext uri="{FF2B5EF4-FFF2-40B4-BE49-F238E27FC236}">
                <a16:creationId xmlns:a16="http://schemas.microsoft.com/office/drawing/2014/main" id="{6EEE1A30-9C2B-6532-AA5F-8D96AC39393B}"/>
              </a:ext>
            </a:extLst>
          </p:cNvPr>
          <p:cNvSpPr txBox="1"/>
          <p:nvPr/>
        </p:nvSpPr>
        <p:spPr>
          <a:xfrm>
            <a:off x="0" y="1093357"/>
            <a:ext cx="6100916" cy="295106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Main Tables</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Users</a:t>
            </a:r>
            <a:r>
              <a:rPr lang="en-IN" dirty="0">
                <a:latin typeface="Times New Roman" panose="02020603050405020304" pitchFamily="18" charset="0"/>
                <a:cs typeface="Times New Roman" panose="02020603050405020304" pitchFamily="18" charset="0"/>
              </a:rPr>
              <a:t> → Stores login &amp; roles </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Doctor</a:t>
            </a:r>
            <a:r>
              <a:rPr lang="en-IN" dirty="0">
                <a:latin typeface="Times New Roman" panose="02020603050405020304" pitchFamily="18" charset="0"/>
                <a:cs typeface="Times New Roman" panose="02020603050405020304" pitchFamily="18" charset="0"/>
              </a:rPr>
              <a:t> → Doctor details &amp; specialization </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Appointment</a:t>
            </a:r>
            <a:r>
              <a:rPr lang="en-IN" dirty="0">
                <a:latin typeface="Times New Roman" panose="02020603050405020304" pitchFamily="18" charset="0"/>
                <a:cs typeface="Times New Roman" panose="02020603050405020304" pitchFamily="18" charset="0"/>
              </a:rPr>
              <a:t> → Booking records </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Time Slot</a:t>
            </a:r>
            <a:r>
              <a:rPr lang="en-IN" dirty="0">
                <a:latin typeface="Times New Roman" panose="02020603050405020304" pitchFamily="18" charset="0"/>
                <a:cs typeface="Times New Roman" panose="02020603050405020304" pitchFamily="18" charset="0"/>
              </a:rPr>
              <a:t> → Doctor availability </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Disease</a:t>
            </a:r>
            <a:r>
              <a:rPr lang="en-IN" dirty="0">
                <a:latin typeface="Times New Roman" panose="02020603050405020304" pitchFamily="18" charset="0"/>
                <a:cs typeface="Times New Roman" panose="02020603050405020304" pitchFamily="18" charset="0"/>
              </a:rPr>
              <a:t> → Disease &amp; specialization mapping </a:t>
            </a:r>
          </a:p>
          <a:p>
            <a:pPr>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Symptom</a:t>
            </a:r>
            <a:r>
              <a:rPr lang="en-IN" dirty="0">
                <a:latin typeface="Times New Roman" panose="02020603050405020304" pitchFamily="18" charset="0"/>
                <a:cs typeface="Times New Roman" panose="02020603050405020304" pitchFamily="18" charset="0"/>
              </a:rPr>
              <a:t> → List of symptoms</a:t>
            </a:r>
          </a:p>
        </p:txBody>
      </p:sp>
      <p:sp>
        <p:nvSpPr>
          <p:cNvPr id="9" name="TextBox 8">
            <a:extLst>
              <a:ext uri="{FF2B5EF4-FFF2-40B4-BE49-F238E27FC236}">
                <a16:creationId xmlns:a16="http://schemas.microsoft.com/office/drawing/2014/main" id="{CFED30A8-DFE7-E5EB-19DC-63542966FD17}"/>
              </a:ext>
            </a:extLst>
          </p:cNvPr>
          <p:cNvSpPr txBox="1"/>
          <p:nvPr/>
        </p:nvSpPr>
        <p:spPr>
          <a:xfrm>
            <a:off x="6172200" y="1149864"/>
            <a:ext cx="6100916" cy="4197559"/>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Relationships</a:t>
            </a:r>
          </a:p>
          <a:p>
            <a:pPr>
              <a:lnSpc>
                <a:spcPct val="150000"/>
              </a:lnSpc>
              <a:buNone/>
            </a:pPr>
            <a:r>
              <a:rPr lang="en-US" b="1" dirty="0">
                <a:latin typeface="Times New Roman" panose="02020603050405020304" pitchFamily="18" charset="0"/>
                <a:cs typeface="Times New Roman" panose="02020603050405020304" pitchFamily="18" charset="0"/>
              </a:rPr>
              <a:t>One-to-Many (1:M)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Doctor → Time Slot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One doctor has multiple time slots </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(Patient) → Appointment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One patient can book multiple appointments </a:t>
            </a:r>
          </a:p>
          <a:p>
            <a:pPr>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buNone/>
            </a:pPr>
            <a:r>
              <a:rPr lang="en-US" b="1" dirty="0">
                <a:latin typeface="Times New Roman" panose="02020603050405020304" pitchFamily="18" charset="0"/>
                <a:cs typeface="Times New Roman" panose="02020603050405020304" pitchFamily="18" charset="0"/>
              </a:rPr>
              <a:t>Many-to-Many (M:M)</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Disease ↔ Symptom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One disease has multiple symptoms </a:t>
            </a:r>
          </a:p>
        </p:txBody>
      </p:sp>
    </p:spTree>
    <p:extLst>
      <p:ext uri="{BB962C8B-B14F-4D97-AF65-F5344CB8AC3E}">
        <p14:creationId xmlns:p14="http://schemas.microsoft.com/office/powerpoint/2010/main" val="34393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FE0C-3FAB-1079-D662-08D06EAB614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AFC8B48-8070-928E-7B7D-5E8A438C54E2}"/>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882A270F-8168-2D9E-927A-2F045E20441A}"/>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D10501A6-4582-5D35-6E28-B31C7FEBF17E}"/>
              </a:ext>
            </a:extLst>
          </p:cNvPr>
          <p:cNvSpPr>
            <a:spLocks noGrp="1"/>
          </p:cNvSpPr>
          <p:nvPr>
            <p:ph type="sldNum" sz="quarter" idx="12"/>
          </p:nvPr>
        </p:nvSpPr>
        <p:spPr/>
        <p:txBody>
          <a:bodyPr/>
          <a:lstStyle/>
          <a:p>
            <a:fld id="{5B1B64FC-C0C6-4D40-9891-AD39CFB51AC3}" type="slidenum">
              <a:rPr lang="en-IN" smtClean="0"/>
              <a:t>18</a:t>
            </a:fld>
            <a:endParaRPr lang="en-IN"/>
          </a:p>
        </p:txBody>
      </p:sp>
      <p:sp>
        <p:nvSpPr>
          <p:cNvPr id="5" name="Title 4">
            <a:extLst>
              <a:ext uri="{FF2B5EF4-FFF2-40B4-BE49-F238E27FC236}">
                <a16:creationId xmlns:a16="http://schemas.microsoft.com/office/drawing/2014/main" id="{0C1F2602-DB17-D953-156B-A965E1C41B64}"/>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Database &amp; ORM Layer</a:t>
            </a:r>
          </a:p>
        </p:txBody>
      </p:sp>
      <p:sp>
        <p:nvSpPr>
          <p:cNvPr id="8" name="TextBox 7">
            <a:extLst>
              <a:ext uri="{FF2B5EF4-FFF2-40B4-BE49-F238E27FC236}">
                <a16:creationId xmlns:a16="http://schemas.microsoft.com/office/drawing/2014/main" id="{1DDD98EA-5F59-ECBF-77ED-E617202C0011}"/>
              </a:ext>
            </a:extLst>
          </p:cNvPr>
          <p:cNvSpPr txBox="1"/>
          <p:nvPr/>
        </p:nvSpPr>
        <p:spPr>
          <a:xfrm>
            <a:off x="166370" y="1162040"/>
            <a:ext cx="6101080" cy="430528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MySQL</a:t>
            </a:r>
          </a:p>
          <a:p>
            <a:pPr>
              <a:lnSpc>
                <a:spcPct val="150000"/>
              </a:lnSpc>
            </a:pPr>
            <a:r>
              <a:rPr lang="en-IN" sz="2000" dirty="0">
                <a:latin typeface="Times New Roman" panose="02020603050405020304" pitchFamily="18" charset="0"/>
                <a:cs typeface="Times New Roman" panose="02020603050405020304" pitchFamily="18" charset="0"/>
              </a:rPr>
              <a:t>Relational database</a:t>
            </a:r>
          </a:p>
          <a:p>
            <a:pPr>
              <a:lnSpc>
                <a:spcPct val="150000"/>
              </a:lnSpc>
            </a:pPr>
            <a:r>
              <a:rPr lang="en-IN" sz="2000" dirty="0">
                <a:latin typeface="Times New Roman" panose="02020603050405020304" pitchFamily="18" charset="0"/>
                <a:cs typeface="Times New Roman" panose="02020603050405020304" pitchFamily="18" charset="0"/>
              </a:rPr>
              <a:t>Stores users, doctors , appointments</a:t>
            </a:r>
          </a:p>
          <a:p>
            <a:pPr>
              <a:lnSpc>
                <a:spcPct val="150000"/>
              </a:lnSpc>
            </a:pPr>
            <a:r>
              <a:rPr lang="en-IN" sz="2000" dirty="0">
                <a:latin typeface="Times New Roman" panose="02020603050405020304" pitchFamily="18" charset="0"/>
                <a:cs typeface="Times New Roman" panose="02020603050405020304" pitchFamily="18" charset="0"/>
              </a:rPr>
              <a:t>Maintains foreign key relationships</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latin typeface="Times New Roman" panose="02020603050405020304" pitchFamily="18" charset="0"/>
                <a:cs typeface="Times New Roman" panose="02020603050405020304" pitchFamily="18" charset="0"/>
              </a:rPr>
              <a:t>Spring Data JPA</a:t>
            </a:r>
          </a:p>
          <a:p>
            <a:pPr>
              <a:lnSpc>
                <a:spcPct val="150000"/>
              </a:lnSpc>
            </a:pPr>
            <a:r>
              <a:rPr lang="en-IN" sz="2000" dirty="0">
                <a:latin typeface="Times New Roman" panose="02020603050405020304" pitchFamily="18" charset="0"/>
                <a:cs typeface="Times New Roman" panose="02020603050405020304" pitchFamily="18" charset="0"/>
              </a:rPr>
              <a:t>Repository abstraction layer</a:t>
            </a:r>
          </a:p>
          <a:p>
            <a:pPr>
              <a:lnSpc>
                <a:spcPct val="150000"/>
              </a:lnSpc>
            </a:pPr>
            <a:r>
              <a:rPr lang="en-IN" sz="2000" dirty="0">
                <a:latin typeface="Times New Roman" panose="02020603050405020304" pitchFamily="18" charset="0"/>
                <a:cs typeface="Times New Roman" panose="02020603050405020304" pitchFamily="18" charset="0"/>
              </a:rPr>
              <a:t>Provides CRUD operations</a:t>
            </a:r>
          </a:p>
          <a:p>
            <a:pPr>
              <a:lnSpc>
                <a:spcPct val="150000"/>
              </a:lnSpc>
            </a:pPr>
            <a:r>
              <a:rPr lang="en-IN" sz="2000" dirty="0">
                <a:latin typeface="Times New Roman" panose="02020603050405020304" pitchFamily="18" charset="0"/>
                <a:cs typeface="Times New Roman" panose="02020603050405020304" pitchFamily="18" charset="0"/>
              </a:rPr>
              <a:t>Reduces manual SQL queries</a:t>
            </a:r>
          </a:p>
        </p:txBody>
      </p:sp>
      <p:sp>
        <p:nvSpPr>
          <p:cNvPr id="7" name="TextBox 6">
            <a:extLst>
              <a:ext uri="{FF2B5EF4-FFF2-40B4-BE49-F238E27FC236}">
                <a16:creationId xmlns:a16="http://schemas.microsoft.com/office/drawing/2014/main" id="{BCC2F95C-CA52-3D75-2415-6F4FD94CBE9C}"/>
              </a:ext>
            </a:extLst>
          </p:cNvPr>
          <p:cNvSpPr txBox="1"/>
          <p:nvPr/>
        </p:nvSpPr>
        <p:spPr>
          <a:xfrm>
            <a:off x="6738620" y="1254372"/>
            <a:ext cx="6101080" cy="1883657"/>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 Hibernate (ORM)</a:t>
            </a:r>
          </a:p>
          <a:p>
            <a:pPr>
              <a:lnSpc>
                <a:spcPct val="150000"/>
              </a:lnSpc>
            </a:pPr>
            <a:r>
              <a:rPr lang="en-IN" sz="2000" dirty="0">
                <a:latin typeface="Times New Roman" panose="02020603050405020304" pitchFamily="18" charset="0"/>
                <a:cs typeface="Times New Roman" panose="02020603050405020304" pitchFamily="18" charset="0"/>
              </a:rPr>
              <a:t>Maps Java objects to database tables</a:t>
            </a:r>
          </a:p>
          <a:p>
            <a:pPr>
              <a:lnSpc>
                <a:spcPct val="150000"/>
              </a:lnSpc>
            </a:pPr>
            <a:r>
              <a:rPr lang="en-IN" sz="2000" dirty="0">
                <a:latin typeface="Times New Roman" panose="02020603050405020304" pitchFamily="18" charset="0"/>
                <a:cs typeface="Times New Roman" panose="02020603050405020304" pitchFamily="18" charset="0"/>
              </a:rPr>
              <a:t>Generates SQL queries automatically</a:t>
            </a:r>
          </a:p>
          <a:p>
            <a:pPr>
              <a:lnSpc>
                <a:spcPct val="150000"/>
              </a:lnSpc>
            </a:pPr>
            <a:r>
              <a:rPr lang="en-IN" sz="2000" dirty="0">
                <a:latin typeface="Times New Roman" panose="02020603050405020304" pitchFamily="18" charset="0"/>
                <a:cs typeface="Times New Roman" panose="02020603050405020304" pitchFamily="18" charset="0"/>
              </a:rPr>
              <a:t>Manages relationships &amp; transactions</a:t>
            </a:r>
          </a:p>
        </p:txBody>
      </p:sp>
    </p:spTree>
    <p:extLst>
      <p:ext uri="{BB962C8B-B14F-4D97-AF65-F5344CB8AC3E}">
        <p14:creationId xmlns:p14="http://schemas.microsoft.com/office/powerpoint/2010/main" val="1946403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3DD74-FCF1-7090-6268-11692D648790}"/>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617BD238-961B-847D-59C7-66F126949831}"/>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741CB1F6-A856-F69F-B832-CB4D2E593A94}"/>
              </a:ext>
            </a:extLst>
          </p:cNvPr>
          <p:cNvSpPr>
            <a:spLocks noGrp="1"/>
          </p:cNvSpPr>
          <p:nvPr>
            <p:ph type="sldNum" sz="quarter" idx="12"/>
          </p:nvPr>
        </p:nvSpPr>
        <p:spPr/>
        <p:txBody>
          <a:bodyPr/>
          <a:lstStyle/>
          <a:p>
            <a:fld id="{5B1B64FC-C0C6-4D40-9891-AD39CFB51AC3}" type="slidenum">
              <a:rPr lang="en-IN" smtClean="0"/>
              <a:t>19</a:t>
            </a:fld>
            <a:endParaRPr lang="en-IN"/>
          </a:p>
        </p:txBody>
      </p:sp>
      <p:sp>
        <p:nvSpPr>
          <p:cNvPr id="5" name="Title 4">
            <a:extLst>
              <a:ext uri="{FF2B5EF4-FFF2-40B4-BE49-F238E27FC236}">
                <a16:creationId xmlns:a16="http://schemas.microsoft.com/office/drawing/2014/main" id="{7B818B3E-EDE5-F162-E7B3-0D2A7160FB2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User Interface</a:t>
            </a:r>
          </a:p>
        </p:txBody>
      </p:sp>
      <p:pic>
        <p:nvPicPr>
          <p:cNvPr id="7" name="Picture 6">
            <a:extLst>
              <a:ext uri="{FF2B5EF4-FFF2-40B4-BE49-F238E27FC236}">
                <a16:creationId xmlns:a16="http://schemas.microsoft.com/office/drawing/2014/main" id="{4AE0E0A7-5794-68C5-C8B6-285C1EA6232B}"/>
              </a:ext>
            </a:extLst>
          </p:cNvPr>
          <p:cNvPicPr>
            <a:picLocks noChangeAspect="1"/>
          </p:cNvPicPr>
          <p:nvPr/>
        </p:nvPicPr>
        <p:blipFill>
          <a:blip r:embed="rId2"/>
          <a:stretch>
            <a:fillRect/>
          </a:stretch>
        </p:blipFill>
        <p:spPr>
          <a:xfrm>
            <a:off x="0" y="952500"/>
            <a:ext cx="12192000" cy="5812983"/>
          </a:xfrm>
          <a:prstGeom prst="rect">
            <a:avLst/>
          </a:prstGeom>
        </p:spPr>
      </p:pic>
    </p:spTree>
    <p:extLst>
      <p:ext uri="{BB962C8B-B14F-4D97-AF65-F5344CB8AC3E}">
        <p14:creationId xmlns:p14="http://schemas.microsoft.com/office/powerpoint/2010/main" val="2799193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8FAA7B-DD09-7D2D-E32E-32DF2928292B}"/>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2AB072C-5EEB-F01B-12C2-773FB1EC4BC8}"/>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5659E053-96D8-E253-F9B0-F7E6740195D5}"/>
              </a:ext>
            </a:extLst>
          </p:cNvPr>
          <p:cNvSpPr>
            <a:spLocks noGrp="1"/>
          </p:cNvSpPr>
          <p:nvPr>
            <p:ph type="sldNum" sz="quarter" idx="12"/>
          </p:nvPr>
        </p:nvSpPr>
        <p:spPr/>
        <p:txBody>
          <a:bodyPr/>
          <a:lstStyle/>
          <a:p>
            <a:fld id="{5B1B64FC-C0C6-4D40-9891-AD39CFB51AC3}" type="slidenum">
              <a:rPr lang="en-IN" smtClean="0"/>
              <a:t>20</a:t>
            </a:fld>
            <a:endParaRPr lang="en-IN"/>
          </a:p>
        </p:txBody>
      </p:sp>
      <p:sp>
        <p:nvSpPr>
          <p:cNvPr id="5" name="Title 4">
            <a:extLst>
              <a:ext uri="{FF2B5EF4-FFF2-40B4-BE49-F238E27FC236}">
                <a16:creationId xmlns:a16="http://schemas.microsoft.com/office/drawing/2014/main" id="{4D8C7C26-7B99-6292-C489-4A4C92B6DA8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User Dashboard</a:t>
            </a:r>
          </a:p>
        </p:txBody>
      </p:sp>
      <p:pic>
        <p:nvPicPr>
          <p:cNvPr id="7" name="Picture 6">
            <a:extLst>
              <a:ext uri="{FF2B5EF4-FFF2-40B4-BE49-F238E27FC236}">
                <a16:creationId xmlns:a16="http://schemas.microsoft.com/office/drawing/2014/main" id="{1CEA8FB8-206E-A52E-3A23-06F17BE23EB9}"/>
              </a:ext>
            </a:extLst>
          </p:cNvPr>
          <p:cNvPicPr>
            <a:picLocks noChangeAspect="1"/>
          </p:cNvPicPr>
          <p:nvPr/>
        </p:nvPicPr>
        <p:blipFill>
          <a:blip r:embed="rId2"/>
          <a:stretch>
            <a:fillRect/>
          </a:stretch>
        </p:blipFill>
        <p:spPr>
          <a:xfrm>
            <a:off x="0" y="962687"/>
            <a:ext cx="12192000" cy="5777837"/>
          </a:xfrm>
          <a:prstGeom prst="rect">
            <a:avLst/>
          </a:prstGeom>
        </p:spPr>
      </p:pic>
    </p:spTree>
    <p:extLst>
      <p:ext uri="{BB962C8B-B14F-4D97-AF65-F5344CB8AC3E}">
        <p14:creationId xmlns:p14="http://schemas.microsoft.com/office/powerpoint/2010/main" val="207866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CA10A-CFCB-98B5-5A01-D01204CA17B7}"/>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35E8ABDD-5C68-28AB-EFB9-E584CECA9932}"/>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37A8425F-4B7B-08C0-E570-33DD76F3C5EB}"/>
              </a:ext>
            </a:extLst>
          </p:cNvPr>
          <p:cNvSpPr>
            <a:spLocks noGrp="1"/>
          </p:cNvSpPr>
          <p:nvPr>
            <p:ph type="sldNum" sz="quarter" idx="12"/>
          </p:nvPr>
        </p:nvSpPr>
        <p:spPr/>
        <p:txBody>
          <a:bodyPr/>
          <a:lstStyle/>
          <a:p>
            <a:fld id="{5B1B64FC-C0C6-4D40-9891-AD39CFB51AC3}" type="slidenum">
              <a:rPr lang="en-IN" smtClean="0"/>
              <a:t>21</a:t>
            </a:fld>
            <a:endParaRPr lang="en-IN"/>
          </a:p>
        </p:txBody>
      </p:sp>
      <p:sp>
        <p:nvSpPr>
          <p:cNvPr id="5" name="Title 4">
            <a:extLst>
              <a:ext uri="{FF2B5EF4-FFF2-40B4-BE49-F238E27FC236}">
                <a16:creationId xmlns:a16="http://schemas.microsoft.com/office/drawing/2014/main" id="{382BED24-CD03-EADD-2694-B87E785EF6C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Disease Prediction Input</a:t>
            </a:r>
          </a:p>
        </p:txBody>
      </p:sp>
      <p:pic>
        <p:nvPicPr>
          <p:cNvPr id="7" name="Picture 6">
            <a:extLst>
              <a:ext uri="{FF2B5EF4-FFF2-40B4-BE49-F238E27FC236}">
                <a16:creationId xmlns:a16="http://schemas.microsoft.com/office/drawing/2014/main" id="{6F293051-87D5-5C17-D9F3-33EE90228D5A}"/>
              </a:ext>
            </a:extLst>
          </p:cNvPr>
          <p:cNvPicPr>
            <a:picLocks noChangeAspect="1"/>
          </p:cNvPicPr>
          <p:nvPr/>
        </p:nvPicPr>
        <p:blipFill>
          <a:blip r:embed="rId2"/>
          <a:stretch>
            <a:fillRect/>
          </a:stretch>
        </p:blipFill>
        <p:spPr>
          <a:xfrm>
            <a:off x="0" y="925093"/>
            <a:ext cx="12192000" cy="5815431"/>
          </a:xfrm>
          <a:prstGeom prst="rect">
            <a:avLst/>
          </a:prstGeom>
        </p:spPr>
      </p:pic>
    </p:spTree>
    <p:extLst>
      <p:ext uri="{BB962C8B-B14F-4D97-AF65-F5344CB8AC3E}">
        <p14:creationId xmlns:p14="http://schemas.microsoft.com/office/powerpoint/2010/main" val="4174745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3FDB03-7E57-E104-6955-07FABF7A700F}"/>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91039210-43A1-B6DA-13AF-907F0D63DB66}"/>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05F4A92E-8809-457E-BD18-6CB3F6D64642}"/>
              </a:ext>
            </a:extLst>
          </p:cNvPr>
          <p:cNvSpPr>
            <a:spLocks noGrp="1"/>
          </p:cNvSpPr>
          <p:nvPr>
            <p:ph type="sldNum" sz="quarter" idx="12"/>
          </p:nvPr>
        </p:nvSpPr>
        <p:spPr/>
        <p:txBody>
          <a:bodyPr/>
          <a:lstStyle/>
          <a:p>
            <a:fld id="{5B1B64FC-C0C6-4D40-9891-AD39CFB51AC3}" type="slidenum">
              <a:rPr lang="en-IN" smtClean="0"/>
              <a:t>22</a:t>
            </a:fld>
            <a:endParaRPr lang="en-IN"/>
          </a:p>
        </p:txBody>
      </p:sp>
      <p:sp>
        <p:nvSpPr>
          <p:cNvPr id="5" name="Title 4">
            <a:extLst>
              <a:ext uri="{FF2B5EF4-FFF2-40B4-BE49-F238E27FC236}">
                <a16:creationId xmlns:a16="http://schemas.microsoft.com/office/drawing/2014/main" id="{CD8A6D9E-5E1B-B8F0-B60C-490DB29AAB5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Disease Prediction Output</a:t>
            </a:r>
          </a:p>
        </p:txBody>
      </p:sp>
      <p:pic>
        <p:nvPicPr>
          <p:cNvPr id="7" name="Picture 6">
            <a:extLst>
              <a:ext uri="{FF2B5EF4-FFF2-40B4-BE49-F238E27FC236}">
                <a16:creationId xmlns:a16="http://schemas.microsoft.com/office/drawing/2014/main" id="{DB19B7E4-D1D0-BEEF-6ABC-8727CEEF31D1}"/>
              </a:ext>
            </a:extLst>
          </p:cNvPr>
          <p:cNvPicPr>
            <a:picLocks noChangeAspect="1"/>
          </p:cNvPicPr>
          <p:nvPr/>
        </p:nvPicPr>
        <p:blipFill>
          <a:blip r:embed="rId2"/>
          <a:stretch>
            <a:fillRect/>
          </a:stretch>
        </p:blipFill>
        <p:spPr>
          <a:xfrm>
            <a:off x="0" y="1063782"/>
            <a:ext cx="12192000" cy="5794218"/>
          </a:xfrm>
          <a:prstGeom prst="rect">
            <a:avLst/>
          </a:prstGeom>
        </p:spPr>
      </p:pic>
    </p:spTree>
    <p:extLst>
      <p:ext uri="{BB962C8B-B14F-4D97-AF65-F5344CB8AC3E}">
        <p14:creationId xmlns:p14="http://schemas.microsoft.com/office/powerpoint/2010/main" val="4198389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5BF4AC-B035-157C-2F4E-F9BF34D17C14}"/>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DDF4E58E-E11D-8ACF-171F-1BFA8C911B5D}"/>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0A2D9F83-D484-85EB-A72E-54BC5E711D05}"/>
              </a:ext>
            </a:extLst>
          </p:cNvPr>
          <p:cNvSpPr>
            <a:spLocks noGrp="1"/>
          </p:cNvSpPr>
          <p:nvPr>
            <p:ph type="sldNum" sz="quarter" idx="12"/>
          </p:nvPr>
        </p:nvSpPr>
        <p:spPr/>
        <p:txBody>
          <a:bodyPr/>
          <a:lstStyle/>
          <a:p>
            <a:fld id="{5B1B64FC-C0C6-4D40-9891-AD39CFB51AC3}" type="slidenum">
              <a:rPr lang="en-IN" smtClean="0"/>
              <a:t>23</a:t>
            </a:fld>
            <a:endParaRPr lang="en-IN"/>
          </a:p>
        </p:txBody>
      </p:sp>
      <p:sp>
        <p:nvSpPr>
          <p:cNvPr id="5" name="Title 4">
            <a:extLst>
              <a:ext uri="{FF2B5EF4-FFF2-40B4-BE49-F238E27FC236}">
                <a16:creationId xmlns:a16="http://schemas.microsoft.com/office/drawing/2014/main" id="{28DA1DC9-8CAF-9839-83EF-0CEE83FD95D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Disease Prediction Output</a:t>
            </a:r>
          </a:p>
        </p:txBody>
      </p:sp>
      <p:pic>
        <p:nvPicPr>
          <p:cNvPr id="7" name="Picture 6">
            <a:extLst>
              <a:ext uri="{FF2B5EF4-FFF2-40B4-BE49-F238E27FC236}">
                <a16:creationId xmlns:a16="http://schemas.microsoft.com/office/drawing/2014/main" id="{C5C0D9A0-6D12-1CEC-E208-8F7A680493CC}"/>
              </a:ext>
            </a:extLst>
          </p:cNvPr>
          <p:cNvPicPr>
            <a:picLocks noChangeAspect="1"/>
          </p:cNvPicPr>
          <p:nvPr/>
        </p:nvPicPr>
        <p:blipFill>
          <a:blip r:embed="rId2"/>
          <a:stretch>
            <a:fillRect/>
          </a:stretch>
        </p:blipFill>
        <p:spPr>
          <a:xfrm>
            <a:off x="0" y="848831"/>
            <a:ext cx="12192000" cy="5789604"/>
          </a:xfrm>
          <a:prstGeom prst="rect">
            <a:avLst/>
          </a:prstGeom>
        </p:spPr>
      </p:pic>
    </p:spTree>
    <p:extLst>
      <p:ext uri="{BB962C8B-B14F-4D97-AF65-F5344CB8AC3E}">
        <p14:creationId xmlns:p14="http://schemas.microsoft.com/office/powerpoint/2010/main" val="85881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418650-4E58-06D9-8A15-9634D5099500}"/>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B6D4770B-BA12-7DC2-DCF4-87097C3F6215}"/>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62D149EF-F356-021F-7EFE-D9BCBBC88B98}"/>
              </a:ext>
            </a:extLst>
          </p:cNvPr>
          <p:cNvSpPr>
            <a:spLocks noGrp="1"/>
          </p:cNvSpPr>
          <p:nvPr>
            <p:ph type="sldNum" sz="quarter" idx="12"/>
          </p:nvPr>
        </p:nvSpPr>
        <p:spPr/>
        <p:txBody>
          <a:bodyPr/>
          <a:lstStyle/>
          <a:p>
            <a:fld id="{5B1B64FC-C0C6-4D40-9891-AD39CFB51AC3}" type="slidenum">
              <a:rPr lang="en-IN" smtClean="0"/>
              <a:t>24</a:t>
            </a:fld>
            <a:endParaRPr lang="en-IN"/>
          </a:p>
        </p:txBody>
      </p:sp>
      <p:sp>
        <p:nvSpPr>
          <p:cNvPr id="5" name="Title 4">
            <a:extLst>
              <a:ext uri="{FF2B5EF4-FFF2-40B4-BE49-F238E27FC236}">
                <a16:creationId xmlns:a16="http://schemas.microsoft.com/office/drawing/2014/main" id="{157BEE5A-3D75-D1A9-40FF-C0E58D48980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Appointment Slot Booking</a:t>
            </a:r>
          </a:p>
        </p:txBody>
      </p:sp>
      <p:pic>
        <p:nvPicPr>
          <p:cNvPr id="7" name="Picture 6">
            <a:extLst>
              <a:ext uri="{FF2B5EF4-FFF2-40B4-BE49-F238E27FC236}">
                <a16:creationId xmlns:a16="http://schemas.microsoft.com/office/drawing/2014/main" id="{97828036-13D7-51D7-45E0-0CE11D44CAD0}"/>
              </a:ext>
            </a:extLst>
          </p:cNvPr>
          <p:cNvPicPr>
            <a:picLocks noChangeAspect="1"/>
          </p:cNvPicPr>
          <p:nvPr/>
        </p:nvPicPr>
        <p:blipFill>
          <a:blip r:embed="rId2"/>
          <a:stretch>
            <a:fillRect/>
          </a:stretch>
        </p:blipFill>
        <p:spPr>
          <a:xfrm>
            <a:off x="0" y="1101902"/>
            <a:ext cx="12192000" cy="5756098"/>
          </a:xfrm>
          <a:prstGeom prst="rect">
            <a:avLst/>
          </a:prstGeom>
        </p:spPr>
      </p:pic>
    </p:spTree>
    <p:extLst>
      <p:ext uri="{BB962C8B-B14F-4D97-AF65-F5344CB8AC3E}">
        <p14:creationId xmlns:p14="http://schemas.microsoft.com/office/powerpoint/2010/main" val="409275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8A7C2-0E7A-43A6-BEE7-900EA23D705D}"/>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818054F4-9185-AC2D-6A9D-56933E3D2242}"/>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C378144E-D233-9638-E69C-CD8652B9935C}"/>
              </a:ext>
            </a:extLst>
          </p:cNvPr>
          <p:cNvSpPr>
            <a:spLocks noGrp="1"/>
          </p:cNvSpPr>
          <p:nvPr>
            <p:ph type="sldNum" sz="quarter" idx="12"/>
          </p:nvPr>
        </p:nvSpPr>
        <p:spPr/>
        <p:txBody>
          <a:bodyPr/>
          <a:lstStyle/>
          <a:p>
            <a:fld id="{5B1B64FC-C0C6-4D40-9891-AD39CFB51AC3}" type="slidenum">
              <a:rPr lang="en-IN" smtClean="0"/>
              <a:t>25</a:t>
            </a:fld>
            <a:endParaRPr lang="en-IN"/>
          </a:p>
        </p:txBody>
      </p:sp>
      <p:sp>
        <p:nvSpPr>
          <p:cNvPr id="5" name="Title 4">
            <a:extLst>
              <a:ext uri="{FF2B5EF4-FFF2-40B4-BE49-F238E27FC236}">
                <a16:creationId xmlns:a16="http://schemas.microsoft.com/office/drawing/2014/main" id="{D8ADF9BA-EDB8-23B2-6AC0-906967591C5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Appointment Confirmation / My Appointments</a:t>
            </a:r>
          </a:p>
        </p:txBody>
      </p:sp>
      <p:pic>
        <p:nvPicPr>
          <p:cNvPr id="7" name="Picture 6">
            <a:extLst>
              <a:ext uri="{FF2B5EF4-FFF2-40B4-BE49-F238E27FC236}">
                <a16:creationId xmlns:a16="http://schemas.microsoft.com/office/drawing/2014/main" id="{2FABF4D6-5DA1-0937-2CE6-0B34C4A006BF}"/>
              </a:ext>
            </a:extLst>
          </p:cNvPr>
          <p:cNvPicPr>
            <a:picLocks noChangeAspect="1"/>
          </p:cNvPicPr>
          <p:nvPr/>
        </p:nvPicPr>
        <p:blipFill>
          <a:blip r:embed="rId2"/>
          <a:stretch>
            <a:fillRect/>
          </a:stretch>
        </p:blipFill>
        <p:spPr>
          <a:xfrm>
            <a:off x="0" y="933901"/>
            <a:ext cx="12192000" cy="5806623"/>
          </a:xfrm>
          <a:prstGeom prst="rect">
            <a:avLst/>
          </a:prstGeom>
        </p:spPr>
      </p:pic>
    </p:spTree>
    <p:extLst>
      <p:ext uri="{BB962C8B-B14F-4D97-AF65-F5344CB8AC3E}">
        <p14:creationId xmlns:p14="http://schemas.microsoft.com/office/powerpoint/2010/main" val="2170894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23B186-23FA-36F3-25B7-5D55F7753DE7}"/>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6B9C494F-5710-5979-45E7-8C898E3458CF}"/>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479ECE87-7A4A-BB12-2245-0B89DE5322A2}"/>
              </a:ext>
            </a:extLst>
          </p:cNvPr>
          <p:cNvSpPr>
            <a:spLocks noGrp="1"/>
          </p:cNvSpPr>
          <p:nvPr>
            <p:ph type="sldNum" sz="quarter" idx="12"/>
          </p:nvPr>
        </p:nvSpPr>
        <p:spPr/>
        <p:txBody>
          <a:bodyPr/>
          <a:lstStyle/>
          <a:p>
            <a:fld id="{5B1B64FC-C0C6-4D40-9891-AD39CFB51AC3}" type="slidenum">
              <a:rPr lang="en-IN" smtClean="0"/>
              <a:t>26</a:t>
            </a:fld>
            <a:endParaRPr lang="en-IN"/>
          </a:p>
        </p:txBody>
      </p:sp>
      <p:sp>
        <p:nvSpPr>
          <p:cNvPr id="5" name="Title 4">
            <a:extLst>
              <a:ext uri="{FF2B5EF4-FFF2-40B4-BE49-F238E27FC236}">
                <a16:creationId xmlns:a16="http://schemas.microsoft.com/office/drawing/2014/main" id="{652FD064-1AC7-A835-F9EA-EB4607B2330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Doctor Selection Page</a:t>
            </a:r>
          </a:p>
        </p:txBody>
      </p:sp>
      <p:pic>
        <p:nvPicPr>
          <p:cNvPr id="7" name="Picture 6">
            <a:extLst>
              <a:ext uri="{FF2B5EF4-FFF2-40B4-BE49-F238E27FC236}">
                <a16:creationId xmlns:a16="http://schemas.microsoft.com/office/drawing/2014/main" id="{D5D6D684-5E32-397A-C13A-7E824B88C871}"/>
              </a:ext>
            </a:extLst>
          </p:cNvPr>
          <p:cNvPicPr>
            <a:picLocks noChangeAspect="1"/>
          </p:cNvPicPr>
          <p:nvPr/>
        </p:nvPicPr>
        <p:blipFill>
          <a:blip r:embed="rId2"/>
          <a:stretch>
            <a:fillRect/>
          </a:stretch>
        </p:blipFill>
        <p:spPr>
          <a:xfrm>
            <a:off x="0" y="952500"/>
            <a:ext cx="12192000" cy="5705272"/>
          </a:xfrm>
          <a:prstGeom prst="rect">
            <a:avLst/>
          </a:prstGeom>
        </p:spPr>
      </p:pic>
    </p:spTree>
    <p:extLst>
      <p:ext uri="{BB962C8B-B14F-4D97-AF65-F5344CB8AC3E}">
        <p14:creationId xmlns:p14="http://schemas.microsoft.com/office/powerpoint/2010/main" val="239218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3E7C48-D8EA-875A-A10B-507BF47276F6}"/>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CFD46B1F-51A9-683D-5712-798EA6FCA7D0}"/>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059D5299-2AE0-ED74-39F3-A9D1381F997D}"/>
              </a:ext>
            </a:extLst>
          </p:cNvPr>
          <p:cNvSpPr>
            <a:spLocks noGrp="1"/>
          </p:cNvSpPr>
          <p:nvPr>
            <p:ph type="sldNum" sz="quarter" idx="12"/>
          </p:nvPr>
        </p:nvSpPr>
        <p:spPr/>
        <p:txBody>
          <a:bodyPr/>
          <a:lstStyle/>
          <a:p>
            <a:fld id="{5B1B64FC-C0C6-4D40-9891-AD39CFB51AC3}" type="slidenum">
              <a:rPr lang="en-IN" smtClean="0"/>
              <a:t>27</a:t>
            </a:fld>
            <a:endParaRPr lang="en-IN"/>
          </a:p>
        </p:txBody>
      </p:sp>
      <p:sp>
        <p:nvSpPr>
          <p:cNvPr id="5" name="Title 4">
            <a:extLst>
              <a:ext uri="{FF2B5EF4-FFF2-40B4-BE49-F238E27FC236}">
                <a16:creationId xmlns:a16="http://schemas.microsoft.com/office/drawing/2014/main" id="{BAA0429F-B4ED-1ACD-3D9C-C210827FF67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Admin Dashboard</a:t>
            </a:r>
          </a:p>
        </p:txBody>
      </p:sp>
      <p:pic>
        <p:nvPicPr>
          <p:cNvPr id="7" name="Picture 6">
            <a:extLst>
              <a:ext uri="{FF2B5EF4-FFF2-40B4-BE49-F238E27FC236}">
                <a16:creationId xmlns:a16="http://schemas.microsoft.com/office/drawing/2014/main" id="{5CBC405B-E5BC-8B63-6838-837B12686C77}"/>
              </a:ext>
            </a:extLst>
          </p:cNvPr>
          <p:cNvPicPr>
            <a:picLocks noChangeAspect="1"/>
          </p:cNvPicPr>
          <p:nvPr/>
        </p:nvPicPr>
        <p:blipFill>
          <a:blip r:embed="rId2"/>
          <a:stretch>
            <a:fillRect/>
          </a:stretch>
        </p:blipFill>
        <p:spPr>
          <a:xfrm>
            <a:off x="0" y="931170"/>
            <a:ext cx="12192000" cy="5809354"/>
          </a:xfrm>
          <a:prstGeom prst="rect">
            <a:avLst/>
          </a:prstGeom>
        </p:spPr>
      </p:pic>
    </p:spTree>
    <p:extLst>
      <p:ext uri="{BB962C8B-B14F-4D97-AF65-F5344CB8AC3E}">
        <p14:creationId xmlns:p14="http://schemas.microsoft.com/office/powerpoint/2010/main" val="2768187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06C2C7-BA50-4CFF-A5C9-D904F205C426}"/>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99258AC4-9724-693C-7CC0-A900B0B9BE64}"/>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03C49984-DD59-17C0-0F06-55F830A68658}"/>
              </a:ext>
            </a:extLst>
          </p:cNvPr>
          <p:cNvSpPr>
            <a:spLocks noGrp="1"/>
          </p:cNvSpPr>
          <p:nvPr>
            <p:ph type="sldNum" sz="quarter" idx="12"/>
          </p:nvPr>
        </p:nvSpPr>
        <p:spPr/>
        <p:txBody>
          <a:bodyPr/>
          <a:lstStyle/>
          <a:p>
            <a:fld id="{5B1B64FC-C0C6-4D40-9891-AD39CFB51AC3}" type="slidenum">
              <a:rPr lang="en-IN" smtClean="0"/>
              <a:t>28</a:t>
            </a:fld>
            <a:endParaRPr lang="en-IN"/>
          </a:p>
        </p:txBody>
      </p:sp>
      <p:sp>
        <p:nvSpPr>
          <p:cNvPr id="5" name="Title 4">
            <a:extLst>
              <a:ext uri="{FF2B5EF4-FFF2-40B4-BE49-F238E27FC236}">
                <a16:creationId xmlns:a16="http://schemas.microsoft.com/office/drawing/2014/main" id="{6CFF57D9-523B-B869-68CF-87141974C1F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Add Doctor Page</a:t>
            </a:r>
          </a:p>
        </p:txBody>
      </p:sp>
      <p:pic>
        <p:nvPicPr>
          <p:cNvPr id="7" name="Picture 6">
            <a:extLst>
              <a:ext uri="{FF2B5EF4-FFF2-40B4-BE49-F238E27FC236}">
                <a16:creationId xmlns:a16="http://schemas.microsoft.com/office/drawing/2014/main" id="{D26A3B24-22D5-E130-C399-2C607043B153}"/>
              </a:ext>
            </a:extLst>
          </p:cNvPr>
          <p:cNvPicPr>
            <a:picLocks noChangeAspect="1"/>
          </p:cNvPicPr>
          <p:nvPr/>
        </p:nvPicPr>
        <p:blipFill>
          <a:blip r:embed="rId2"/>
          <a:stretch>
            <a:fillRect/>
          </a:stretch>
        </p:blipFill>
        <p:spPr>
          <a:xfrm>
            <a:off x="0" y="971719"/>
            <a:ext cx="12192000" cy="5768805"/>
          </a:xfrm>
          <a:prstGeom prst="rect">
            <a:avLst/>
          </a:prstGeom>
        </p:spPr>
      </p:pic>
    </p:spTree>
    <p:extLst>
      <p:ext uri="{BB962C8B-B14F-4D97-AF65-F5344CB8AC3E}">
        <p14:creationId xmlns:p14="http://schemas.microsoft.com/office/powerpoint/2010/main" val="2456872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F39C2-C2D8-074E-EE37-2D9DE426A16A}"/>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E37AAD20-5281-8ADF-4BDF-FDB23FB06B17}"/>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51BE0422-9265-EFBD-8AA0-1A7959730BDE}"/>
              </a:ext>
            </a:extLst>
          </p:cNvPr>
          <p:cNvSpPr>
            <a:spLocks noGrp="1"/>
          </p:cNvSpPr>
          <p:nvPr>
            <p:ph type="sldNum" sz="quarter" idx="12"/>
          </p:nvPr>
        </p:nvSpPr>
        <p:spPr/>
        <p:txBody>
          <a:bodyPr/>
          <a:lstStyle/>
          <a:p>
            <a:fld id="{5B1B64FC-C0C6-4D40-9891-AD39CFB51AC3}" type="slidenum">
              <a:rPr lang="en-IN" smtClean="0"/>
              <a:t>29</a:t>
            </a:fld>
            <a:endParaRPr lang="en-IN"/>
          </a:p>
        </p:txBody>
      </p:sp>
      <p:sp>
        <p:nvSpPr>
          <p:cNvPr id="5" name="Title 4">
            <a:extLst>
              <a:ext uri="{FF2B5EF4-FFF2-40B4-BE49-F238E27FC236}">
                <a16:creationId xmlns:a16="http://schemas.microsoft.com/office/drawing/2014/main" id="{7E418D6A-9346-089F-DCAE-D155A665C4D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View Doctors Page</a:t>
            </a:r>
          </a:p>
        </p:txBody>
      </p:sp>
      <p:pic>
        <p:nvPicPr>
          <p:cNvPr id="7" name="Picture 6">
            <a:extLst>
              <a:ext uri="{FF2B5EF4-FFF2-40B4-BE49-F238E27FC236}">
                <a16:creationId xmlns:a16="http://schemas.microsoft.com/office/drawing/2014/main" id="{E56E995C-EDBC-9646-CA54-479E038DA074}"/>
              </a:ext>
            </a:extLst>
          </p:cNvPr>
          <p:cNvPicPr>
            <a:picLocks noChangeAspect="1"/>
          </p:cNvPicPr>
          <p:nvPr/>
        </p:nvPicPr>
        <p:blipFill>
          <a:blip r:embed="rId2"/>
          <a:stretch>
            <a:fillRect/>
          </a:stretch>
        </p:blipFill>
        <p:spPr>
          <a:xfrm>
            <a:off x="0" y="952500"/>
            <a:ext cx="12192000" cy="5737038"/>
          </a:xfrm>
          <a:prstGeom prst="rect">
            <a:avLst/>
          </a:prstGeom>
        </p:spPr>
      </p:pic>
    </p:spTree>
    <p:extLst>
      <p:ext uri="{BB962C8B-B14F-4D97-AF65-F5344CB8AC3E}">
        <p14:creationId xmlns:p14="http://schemas.microsoft.com/office/powerpoint/2010/main" val="202581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7049B-E376-7519-CD4E-9D0598767A92}"/>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D9CD1D85-E7E6-DEE2-2C2A-6856DDC8F6F0}"/>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B851EDF7-EDB9-288F-C8C3-221442849453}"/>
              </a:ext>
            </a:extLst>
          </p:cNvPr>
          <p:cNvSpPr>
            <a:spLocks noGrp="1"/>
          </p:cNvSpPr>
          <p:nvPr>
            <p:ph type="sldNum" sz="quarter" idx="12"/>
          </p:nvPr>
        </p:nvSpPr>
        <p:spPr/>
        <p:txBody>
          <a:bodyPr/>
          <a:lstStyle/>
          <a:p>
            <a:fld id="{5B1B64FC-C0C6-4D40-9891-AD39CFB51AC3}" type="slidenum">
              <a:rPr lang="en-IN" smtClean="0"/>
              <a:t>30</a:t>
            </a:fld>
            <a:endParaRPr lang="en-IN"/>
          </a:p>
        </p:txBody>
      </p:sp>
      <p:sp>
        <p:nvSpPr>
          <p:cNvPr id="5" name="Title 4">
            <a:extLst>
              <a:ext uri="{FF2B5EF4-FFF2-40B4-BE49-F238E27FC236}">
                <a16:creationId xmlns:a16="http://schemas.microsoft.com/office/drawing/2014/main" id="{DB8D5CF5-77EA-29F9-FFD4-BD16A8482BE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Need for Cloud Deployment</a:t>
            </a:r>
          </a:p>
        </p:txBody>
      </p:sp>
      <p:graphicFrame>
        <p:nvGraphicFramePr>
          <p:cNvPr id="7" name="Table 6">
            <a:extLst>
              <a:ext uri="{FF2B5EF4-FFF2-40B4-BE49-F238E27FC236}">
                <a16:creationId xmlns:a16="http://schemas.microsoft.com/office/drawing/2014/main" id="{111B96A8-5134-D3A6-4C9D-B4305BF62A9A}"/>
              </a:ext>
            </a:extLst>
          </p:cNvPr>
          <p:cNvGraphicFramePr>
            <a:graphicFrameLocks noGrp="1"/>
          </p:cNvGraphicFramePr>
          <p:nvPr>
            <p:extLst>
              <p:ext uri="{D42A27DB-BD31-4B8C-83A1-F6EECF244321}">
                <p14:modId xmlns:p14="http://schemas.microsoft.com/office/powerpoint/2010/main" val="3255771390"/>
              </p:ext>
            </p:extLst>
          </p:nvPr>
        </p:nvGraphicFramePr>
        <p:xfrm>
          <a:off x="2014689" y="1103629"/>
          <a:ext cx="8758085" cy="2560320"/>
        </p:xfrm>
        <a:graphic>
          <a:graphicData uri="http://schemas.openxmlformats.org/drawingml/2006/table">
            <a:tbl>
              <a:tblPr>
                <a:tableStyleId>{5940675A-B579-460E-94D1-54222C63F5DA}</a:tableStyleId>
              </a:tblPr>
              <a:tblGrid>
                <a:gridCol w="3797627">
                  <a:extLst>
                    <a:ext uri="{9D8B030D-6E8A-4147-A177-3AD203B41FA5}">
                      <a16:colId xmlns:a16="http://schemas.microsoft.com/office/drawing/2014/main" val="1148644272"/>
                    </a:ext>
                  </a:extLst>
                </a:gridCol>
                <a:gridCol w="4960458">
                  <a:extLst>
                    <a:ext uri="{9D8B030D-6E8A-4147-A177-3AD203B41FA5}">
                      <a16:colId xmlns:a16="http://schemas.microsoft.com/office/drawing/2014/main" val="463576795"/>
                    </a:ext>
                  </a:extLst>
                </a:gridCol>
              </a:tblGrid>
              <a:tr h="0">
                <a:tc>
                  <a:txBody>
                    <a:bodyPr/>
                    <a:lstStyle/>
                    <a:p>
                      <a:pPr algn="ctr">
                        <a:buNone/>
                      </a:pPr>
                      <a:r>
                        <a:rPr lang="en-IN" b="1" dirty="0">
                          <a:latin typeface="Times New Roman" panose="02020603050405020304" pitchFamily="18" charset="0"/>
                          <a:cs typeface="Times New Roman" panose="02020603050405020304" pitchFamily="18" charset="0"/>
                        </a:rPr>
                        <a:t>Local System</a:t>
                      </a:r>
                    </a:p>
                  </a:txBody>
                  <a:tcPr anchor="ctr"/>
                </a:tc>
                <a:tc>
                  <a:txBody>
                    <a:bodyPr/>
                    <a:lstStyle/>
                    <a:p>
                      <a:pPr algn="ctr">
                        <a:buNone/>
                      </a:pPr>
                      <a:r>
                        <a:rPr lang="en-IN" b="1" dirty="0">
                          <a:latin typeface="Times New Roman" panose="02020603050405020304" pitchFamily="18" charset="0"/>
                          <a:cs typeface="Times New Roman" panose="02020603050405020304" pitchFamily="18" charset="0"/>
                        </a:rPr>
                        <a:t>Cloud Deployment</a:t>
                      </a:r>
                    </a:p>
                  </a:txBody>
                  <a:tcPr anchor="ctr"/>
                </a:tc>
                <a:extLst>
                  <a:ext uri="{0D108BD9-81ED-4DB2-BD59-A6C34878D82A}">
                    <a16:rowId xmlns:a16="http://schemas.microsoft.com/office/drawing/2014/main" val="3288186764"/>
                  </a:ext>
                </a:extLst>
              </a:tr>
              <a:tr h="0">
                <a:tc>
                  <a:txBody>
                    <a:bodyPr/>
                    <a:lstStyle/>
                    <a:p>
                      <a:pPr algn="ctr">
                        <a:buNone/>
                      </a:pPr>
                      <a:r>
                        <a:rPr lang="en-IN" b="0" dirty="0">
                          <a:latin typeface="Times New Roman" panose="02020603050405020304" pitchFamily="18" charset="0"/>
                          <a:cs typeface="Times New Roman" panose="02020603050405020304" pitchFamily="18" charset="0"/>
                        </a:rPr>
                        <a:t>Only works on localhost</a:t>
                      </a:r>
                    </a:p>
                  </a:txBody>
                  <a:tcPr anchor="ctr"/>
                </a:tc>
                <a:tc>
                  <a:txBody>
                    <a:bodyPr/>
                    <a:lstStyle/>
                    <a:p>
                      <a:pPr algn="ctr">
                        <a:buNone/>
                      </a:pPr>
                      <a:r>
                        <a:rPr lang="en-IN" b="0">
                          <a:latin typeface="Times New Roman" panose="02020603050405020304" pitchFamily="18" charset="0"/>
                          <a:cs typeface="Times New Roman" panose="02020603050405020304" pitchFamily="18" charset="0"/>
                        </a:rPr>
                        <a:t>Accessible from anywhere</a:t>
                      </a:r>
                    </a:p>
                  </a:txBody>
                  <a:tcPr anchor="ctr"/>
                </a:tc>
                <a:extLst>
                  <a:ext uri="{0D108BD9-81ED-4DB2-BD59-A6C34878D82A}">
                    <a16:rowId xmlns:a16="http://schemas.microsoft.com/office/drawing/2014/main" val="1012726733"/>
                  </a:ext>
                </a:extLst>
              </a:tr>
              <a:tr h="0">
                <a:tc>
                  <a:txBody>
                    <a:bodyPr/>
                    <a:lstStyle/>
                    <a:p>
                      <a:pPr algn="ctr">
                        <a:buNone/>
                      </a:pPr>
                      <a:r>
                        <a:rPr lang="en-IN" b="0">
                          <a:latin typeface="Times New Roman" panose="02020603050405020304" pitchFamily="18" charset="0"/>
                          <a:cs typeface="Times New Roman" panose="02020603050405020304" pitchFamily="18" charset="0"/>
                        </a:rPr>
                        <a:t>Single user access</a:t>
                      </a:r>
                    </a:p>
                  </a:txBody>
                  <a:tcPr anchor="ctr"/>
                </a:tc>
                <a:tc>
                  <a:txBody>
                    <a:bodyPr/>
                    <a:lstStyle/>
                    <a:p>
                      <a:pPr algn="ctr">
                        <a:buNone/>
                      </a:pPr>
                      <a:r>
                        <a:rPr lang="en-IN" b="0">
                          <a:latin typeface="Times New Roman" panose="02020603050405020304" pitchFamily="18" charset="0"/>
                          <a:cs typeface="Times New Roman" panose="02020603050405020304" pitchFamily="18" charset="0"/>
                        </a:rPr>
                        <a:t>Multiple user access</a:t>
                      </a:r>
                    </a:p>
                  </a:txBody>
                  <a:tcPr anchor="ctr"/>
                </a:tc>
                <a:extLst>
                  <a:ext uri="{0D108BD9-81ED-4DB2-BD59-A6C34878D82A}">
                    <a16:rowId xmlns:a16="http://schemas.microsoft.com/office/drawing/2014/main" val="3027352730"/>
                  </a:ext>
                </a:extLst>
              </a:tr>
              <a:tr h="0">
                <a:tc>
                  <a:txBody>
                    <a:bodyPr/>
                    <a:lstStyle/>
                    <a:p>
                      <a:pPr algn="ctr">
                        <a:buNone/>
                      </a:pPr>
                      <a:r>
                        <a:rPr lang="en-IN" b="0" dirty="0">
                          <a:latin typeface="Times New Roman" panose="02020603050405020304" pitchFamily="18" charset="0"/>
                          <a:cs typeface="Times New Roman" panose="02020603050405020304" pitchFamily="18" charset="0"/>
                        </a:rPr>
                        <a:t>Stops when PC is off</a:t>
                      </a:r>
                    </a:p>
                  </a:txBody>
                  <a:tcPr anchor="ctr"/>
                </a:tc>
                <a:tc>
                  <a:txBody>
                    <a:bodyPr/>
                    <a:lstStyle/>
                    <a:p>
                      <a:pPr algn="ctr">
                        <a:buNone/>
                      </a:pPr>
                      <a:r>
                        <a:rPr lang="en-IN" b="0">
                          <a:latin typeface="Times New Roman" panose="02020603050405020304" pitchFamily="18" charset="0"/>
                          <a:cs typeface="Times New Roman" panose="02020603050405020304" pitchFamily="18" charset="0"/>
                        </a:rPr>
                        <a:t>Available 24×7</a:t>
                      </a:r>
                    </a:p>
                  </a:txBody>
                  <a:tcPr anchor="ctr"/>
                </a:tc>
                <a:extLst>
                  <a:ext uri="{0D108BD9-81ED-4DB2-BD59-A6C34878D82A}">
                    <a16:rowId xmlns:a16="http://schemas.microsoft.com/office/drawing/2014/main" val="329525521"/>
                  </a:ext>
                </a:extLst>
              </a:tr>
              <a:tr h="0">
                <a:tc>
                  <a:txBody>
                    <a:bodyPr/>
                    <a:lstStyle/>
                    <a:p>
                      <a:pPr algn="ctr">
                        <a:buNone/>
                      </a:pPr>
                      <a:r>
                        <a:rPr lang="en-IN" b="0">
                          <a:latin typeface="Times New Roman" panose="02020603050405020304" pitchFamily="18" charset="0"/>
                          <a:cs typeface="Times New Roman" panose="02020603050405020304" pitchFamily="18" charset="0"/>
                        </a:rPr>
                        <a:t>Data stored locally</a:t>
                      </a:r>
                    </a:p>
                  </a:txBody>
                  <a:tcPr anchor="ctr"/>
                </a:tc>
                <a:tc>
                  <a:txBody>
                    <a:bodyPr/>
                    <a:lstStyle/>
                    <a:p>
                      <a:pPr algn="ctr">
                        <a:buNone/>
                      </a:pPr>
                      <a:r>
                        <a:rPr lang="en-IN" b="0">
                          <a:latin typeface="Times New Roman" panose="02020603050405020304" pitchFamily="18" charset="0"/>
                          <a:cs typeface="Times New Roman" panose="02020603050405020304" pitchFamily="18" charset="0"/>
                        </a:rPr>
                        <a:t>Data stored in cloud</a:t>
                      </a:r>
                    </a:p>
                  </a:txBody>
                  <a:tcPr anchor="ctr"/>
                </a:tc>
                <a:extLst>
                  <a:ext uri="{0D108BD9-81ED-4DB2-BD59-A6C34878D82A}">
                    <a16:rowId xmlns:a16="http://schemas.microsoft.com/office/drawing/2014/main" val="3531231121"/>
                  </a:ext>
                </a:extLst>
              </a:tr>
              <a:tr h="0">
                <a:tc>
                  <a:txBody>
                    <a:bodyPr/>
                    <a:lstStyle/>
                    <a:p>
                      <a:pPr algn="ctr">
                        <a:buNone/>
                      </a:pPr>
                      <a:r>
                        <a:rPr lang="en-IN" b="0">
                          <a:latin typeface="Times New Roman" panose="02020603050405020304" pitchFamily="18" charset="0"/>
                          <a:cs typeface="Times New Roman" panose="02020603050405020304" pitchFamily="18" charset="0"/>
                        </a:rPr>
                        <a:t>Hard to demonstrate</a:t>
                      </a:r>
                    </a:p>
                  </a:txBody>
                  <a:tcPr anchor="ctr"/>
                </a:tc>
                <a:tc>
                  <a:txBody>
                    <a:bodyPr/>
                    <a:lstStyle/>
                    <a:p>
                      <a:pPr algn="ctr">
                        <a:buNone/>
                      </a:pPr>
                      <a:r>
                        <a:rPr lang="en-IN" b="0">
                          <a:latin typeface="Times New Roman" panose="02020603050405020304" pitchFamily="18" charset="0"/>
                          <a:cs typeface="Times New Roman" panose="02020603050405020304" pitchFamily="18" charset="0"/>
                        </a:rPr>
                        <a:t>Easy to share and test</a:t>
                      </a:r>
                    </a:p>
                  </a:txBody>
                  <a:tcPr anchor="ctr"/>
                </a:tc>
                <a:extLst>
                  <a:ext uri="{0D108BD9-81ED-4DB2-BD59-A6C34878D82A}">
                    <a16:rowId xmlns:a16="http://schemas.microsoft.com/office/drawing/2014/main" val="2546027040"/>
                  </a:ext>
                </a:extLst>
              </a:tr>
              <a:tr h="0">
                <a:tc>
                  <a:txBody>
                    <a:bodyPr/>
                    <a:lstStyle/>
                    <a:p>
                      <a:pPr algn="ctr">
                        <a:buNone/>
                      </a:pPr>
                      <a:r>
                        <a:rPr lang="en-IN" b="0" dirty="0">
                          <a:latin typeface="Times New Roman" panose="02020603050405020304" pitchFamily="18" charset="0"/>
                          <a:cs typeface="Times New Roman" panose="02020603050405020304" pitchFamily="18" charset="0"/>
                        </a:rPr>
                        <a:t>Limited resources</a:t>
                      </a:r>
                    </a:p>
                  </a:txBody>
                  <a:tcPr anchor="ctr"/>
                </a:tc>
                <a:tc>
                  <a:txBody>
                    <a:bodyPr/>
                    <a:lstStyle/>
                    <a:p>
                      <a:pPr algn="ctr">
                        <a:buNone/>
                      </a:pPr>
                      <a:r>
                        <a:rPr lang="en-IN" b="0" dirty="0">
                          <a:latin typeface="Times New Roman" panose="02020603050405020304" pitchFamily="18" charset="0"/>
                          <a:cs typeface="Times New Roman" panose="02020603050405020304" pitchFamily="18" charset="0"/>
                        </a:rPr>
                        <a:t>Better scalability</a:t>
                      </a:r>
                    </a:p>
                  </a:txBody>
                  <a:tcPr anchor="ctr"/>
                </a:tc>
                <a:extLst>
                  <a:ext uri="{0D108BD9-81ED-4DB2-BD59-A6C34878D82A}">
                    <a16:rowId xmlns:a16="http://schemas.microsoft.com/office/drawing/2014/main" val="3138754464"/>
                  </a:ext>
                </a:extLst>
              </a:tr>
            </a:tbl>
          </a:graphicData>
        </a:graphic>
      </p:graphicFrame>
      <p:sp>
        <p:nvSpPr>
          <p:cNvPr id="9" name="TextBox 8">
            <a:extLst>
              <a:ext uri="{FF2B5EF4-FFF2-40B4-BE49-F238E27FC236}">
                <a16:creationId xmlns:a16="http://schemas.microsoft.com/office/drawing/2014/main" id="{5F8AAF86-19DE-FB15-A0EB-EE95B93342E6}"/>
              </a:ext>
            </a:extLst>
          </p:cNvPr>
          <p:cNvSpPr txBox="1"/>
          <p:nvPr/>
        </p:nvSpPr>
        <p:spPr>
          <a:xfrm>
            <a:off x="4859593" y="4390825"/>
            <a:ext cx="6100916" cy="175432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Why Cloud Deployment?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Global Accessibility</a:t>
            </a:r>
          </a:p>
          <a:p>
            <a:pPr>
              <a:buNone/>
            </a:pPr>
            <a:r>
              <a:rPr lang="en-IN" dirty="0">
                <a:latin typeface="Times New Roman" panose="02020603050405020304" pitchFamily="18" charset="0"/>
                <a:cs typeface="Times New Roman" panose="02020603050405020304" pitchFamily="18" charset="0"/>
              </a:rPr>
              <a:t>24×7 Availability</a:t>
            </a:r>
          </a:p>
          <a:p>
            <a:pPr>
              <a:buNone/>
            </a:pPr>
            <a:r>
              <a:rPr lang="en-IN" dirty="0">
                <a:latin typeface="Times New Roman" panose="02020603050405020304" pitchFamily="18" charset="0"/>
                <a:cs typeface="Times New Roman" panose="02020603050405020304" pitchFamily="18" charset="0"/>
              </a:rPr>
              <a:t>Better Reliability</a:t>
            </a:r>
          </a:p>
          <a:p>
            <a:pPr>
              <a:buNone/>
            </a:pPr>
            <a:r>
              <a:rPr lang="en-IN" dirty="0">
                <a:latin typeface="Times New Roman" panose="02020603050405020304" pitchFamily="18" charset="0"/>
                <a:cs typeface="Times New Roman" panose="02020603050405020304" pitchFamily="18" charset="0"/>
              </a:rPr>
              <a:t>Easy Demonstration</a:t>
            </a:r>
          </a:p>
          <a:p>
            <a:pPr>
              <a:buNone/>
            </a:pPr>
            <a:r>
              <a:rPr lang="en-IN" dirty="0">
                <a:latin typeface="Times New Roman" panose="02020603050405020304" pitchFamily="18" charset="0"/>
                <a:cs typeface="Times New Roman" panose="02020603050405020304" pitchFamily="18" charset="0"/>
              </a:rPr>
              <a:t> Real-World Deployment</a:t>
            </a:r>
          </a:p>
        </p:txBody>
      </p:sp>
    </p:spTree>
    <p:extLst>
      <p:ext uri="{BB962C8B-B14F-4D97-AF65-F5344CB8AC3E}">
        <p14:creationId xmlns:p14="http://schemas.microsoft.com/office/powerpoint/2010/main" val="608464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C8072B-27F1-2ED6-5465-55D63263303B}"/>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877F392A-38AE-E293-9A8D-87A03C46591F}"/>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9F018604-0310-3BAA-5392-336F4659499B}"/>
              </a:ext>
            </a:extLst>
          </p:cNvPr>
          <p:cNvSpPr>
            <a:spLocks noGrp="1"/>
          </p:cNvSpPr>
          <p:nvPr>
            <p:ph type="sldNum" sz="quarter" idx="12"/>
          </p:nvPr>
        </p:nvSpPr>
        <p:spPr/>
        <p:txBody>
          <a:bodyPr/>
          <a:lstStyle/>
          <a:p>
            <a:fld id="{5B1B64FC-C0C6-4D40-9891-AD39CFB51AC3}" type="slidenum">
              <a:rPr lang="en-IN" smtClean="0"/>
              <a:t>31</a:t>
            </a:fld>
            <a:endParaRPr lang="en-IN"/>
          </a:p>
        </p:txBody>
      </p:sp>
      <p:sp>
        <p:nvSpPr>
          <p:cNvPr id="5" name="Title 4">
            <a:extLst>
              <a:ext uri="{FF2B5EF4-FFF2-40B4-BE49-F238E27FC236}">
                <a16:creationId xmlns:a16="http://schemas.microsoft.com/office/drawing/2014/main" id="{616F477C-7307-ED7A-E937-E56FB1DF87C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Cloud Platform Comparison</a:t>
            </a:r>
          </a:p>
        </p:txBody>
      </p:sp>
      <p:graphicFrame>
        <p:nvGraphicFramePr>
          <p:cNvPr id="6" name="Table 5">
            <a:extLst>
              <a:ext uri="{FF2B5EF4-FFF2-40B4-BE49-F238E27FC236}">
                <a16:creationId xmlns:a16="http://schemas.microsoft.com/office/drawing/2014/main" id="{F2A289F5-6949-FDD3-CB83-21E076C5FAAC}"/>
              </a:ext>
            </a:extLst>
          </p:cNvPr>
          <p:cNvGraphicFramePr>
            <a:graphicFrameLocks noGrp="1"/>
          </p:cNvGraphicFramePr>
          <p:nvPr>
            <p:extLst>
              <p:ext uri="{D42A27DB-BD31-4B8C-83A1-F6EECF244321}">
                <p14:modId xmlns:p14="http://schemas.microsoft.com/office/powerpoint/2010/main" val="2508758922"/>
              </p:ext>
            </p:extLst>
          </p:nvPr>
        </p:nvGraphicFramePr>
        <p:xfrm>
          <a:off x="2509684" y="1855895"/>
          <a:ext cx="7886700" cy="2560320"/>
        </p:xfrm>
        <a:graphic>
          <a:graphicData uri="http://schemas.openxmlformats.org/drawingml/2006/table">
            <a:tbl>
              <a:tblPr>
                <a:tableStyleId>{5940675A-B579-460E-94D1-54222C63F5DA}</a:tableStyleId>
              </a:tblPr>
              <a:tblGrid>
                <a:gridCol w="2628900">
                  <a:extLst>
                    <a:ext uri="{9D8B030D-6E8A-4147-A177-3AD203B41FA5}">
                      <a16:colId xmlns:a16="http://schemas.microsoft.com/office/drawing/2014/main" val="466567626"/>
                    </a:ext>
                  </a:extLst>
                </a:gridCol>
                <a:gridCol w="2628900">
                  <a:extLst>
                    <a:ext uri="{9D8B030D-6E8A-4147-A177-3AD203B41FA5}">
                      <a16:colId xmlns:a16="http://schemas.microsoft.com/office/drawing/2014/main" val="961940747"/>
                    </a:ext>
                  </a:extLst>
                </a:gridCol>
                <a:gridCol w="2628900">
                  <a:extLst>
                    <a:ext uri="{9D8B030D-6E8A-4147-A177-3AD203B41FA5}">
                      <a16:colId xmlns:a16="http://schemas.microsoft.com/office/drawing/2014/main" val="166709259"/>
                    </a:ext>
                  </a:extLst>
                </a:gridCol>
              </a:tblGrid>
              <a:tr h="0">
                <a:tc>
                  <a:txBody>
                    <a:bodyPr/>
                    <a:lstStyle/>
                    <a:p>
                      <a:pPr>
                        <a:buNone/>
                      </a:pPr>
                      <a:r>
                        <a:rPr lang="en-IN" b="1" dirty="0">
                          <a:latin typeface="Times New Roman" panose="02020603050405020304" pitchFamily="18" charset="0"/>
                          <a:cs typeface="Times New Roman" panose="02020603050405020304" pitchFamily="18" charset="0"/>
                        </a:rPr>
                        <a:t>Platform</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Free </a:t>
                      </a:r>
                      <a:r>
                        <a:rPr lang="en-IN" sz="1800" b="1" kern="1200" dirty="0">
                          <a:solidFill>
                            <a:schemeClr val="tx1"/>
                          </a:solidFill>
                          <a:latin typeface="Times New Roman" panose="02020603050405020304" pitchFamily="18" charset="0"/>
                          <a:ea typeface="+mn-ea"/>
                          <a:cs typeface="Times New Roman" panose="02020603050405020304" pitchFamily="18" charset="0"/>
                        </a:rPr>
                        <a:t>Tier</a:t>
                      </a:r>
                    </a:p>
                  </a:txBody>
                  <a:tcPr anchor="ctr"/>
                </a:tc>
                <a:tc>
                  <a:txBody>
                    <a:bodyPr/>
                    <a:lstStyle/>
                    <a:p>
                      <a:pPr>
                        <a:buNone/>
                      </a:pPr>
                      <a:r>
                        <a:rPr lang="en-IN" b="1" dirty="0">
                          <a:latin typeface="Times New Roman" panose="02020603050405020304" pitchFamily="18" charset="0"/>
                          <a:cs typeface="Times New Roman" panose="02020603050405020304" pitchFamily="18" charset="0"/>
                        </a:rPr>
                        <a:t>Database</a:t>
                      </a:r>
                    </a:p>
                  </a:txBody>
                  <a:tcPr anchor="ctr"/>
                </a:tc>
                <a:extLst>
                  <a:ext uri="{0D108BD9-81ED-4DB2-BD59-A6C34878D82A}">
                    <a16:rowId xmlns:a16="http://schemas.microsoft.com/office/drawing/2014/main" val="3708488475"/>
                  </a:ext>
                </a:extLst>
              </a:tr>
              <a:tr h="0">
                <a:tc>
                  <a:txBody>
                    <a:bodyPr/>
                    <a:lstStyle/>
                    <a:p>
                      <a:pPr>
                        <a:buNone/>
                      </a:pPr>
                      <a:r>
                        <a:rPr lang="en-IN">
                          <a:latin typeface="Times New Roman" panose="02020603050405020304" pitchFamily="18" charset="0"/>
                          <a:cs typeface="Times New Roman" panose="02020603050405020304" pitchFamily="18" charset="0"/>
                        </a:rPr>
                        <a:t>Render</a:t>
                      </a:r>
                    </a:p>
                  </a:txBody>
                  <a:tcPr anchor="ctr"/>
                </a:tc>
                <a:tc>
                  <a:txBody>
                    <a:bodyPr/>
                    <a:lstStyle/>
                    <a:p>
                      <a:pPr>
                        <a:buNone/>
                      </a:pPr>
                      <a:r>
                        <a:rPr lang="en-IN" dirty="0">
                          <a:latin typeface="Times New Roman" panose="02020603050405020304" pitchFamily="18" charset="0"/>
                          <a:cs typeface="Times New Roman" panose="02020603050405020304" pitchFamily="18" charset="0"/>
                        </a:rPr>
                        <a:t>Yes</a:t>
                      </a:r>
                    </a:p>
                  </a:txBody>
                  <a:tcPr anchor="ctr"/>
                </a:tc>
                <a:tc>
                  <a:txBody>
                    <a:bodyPr/>
                    <a:lstStyle/>
                    <a:p>
                      <a:pPr>
                        <a:buNone/>
                      </a:pPr>
                      <a:r>
                        <a:rPr lang="en-IN">
                          <a:latin typeface="Times New Roman" panose="02020603050405020304" pitchFamily="18" charset="0"/>
                          <a:cs typeface="Times New Roman" panose="02020603050405020304" pitchFamily="18" charset="0"/>
                        </a:rPr>
                        <a:t>PostgreSQL</a:t>
                      </a:r>
                    </a:p>
                  </a:txBody>
                  <a:tcPr anchor="ctr"/>
                </a:tc>
                <a:extLst>
                  <a:ext uri="{0D108BD9-81ED-4DB2-BD59-A6C34878D82A}">
                    <a16:rowId xmlns:a16="http://schemas.microsoft.com/office/drawing/2014/main" val="2391607083"/>
                  </a:ext>
                </a:extLst>
              </a:tr>
              <a:tr h="0">
                <a:tc>
                  <a:txBody>
                    <a:bodyPr/>
                    <a:lstStyle/>
                    <a:p>
                      <a:pPr>
                        <a:buNone/>
                      </a:pPr>
                      <a:r>
                        <a:rPr lang="en-IN">
                          <a:latin typeface="Times New Roman" panose="02020603050405020304" pitchFamily="18" charset="0"/>
                          <a:cs typeface="Times New Roman" panose="02020603050405020304" pitchFamily="18" charset="0"/>
                        </a:rPr>
                        <a:t>Railway</a:t>
                      </a:r>
                    </a:p>
                  </a:txBody>
                  <a:tcPr anchor="ctr"/>
                </a:tc>
                <a:tc>
                  <a:txBody>
                    <a:bodyPr/>
                    <a:lstStyle/>
                    <a:p>
                      <a:pPr>
                        <a:buNone/>
                      </a:pPr>
                      <a:r>
                        <a:rPr lang="en-IN" dirty="0">
                          <a:latin typeface="Times New Roman" panose="02020603050405020304" pitchFamily="18" charset="0"/>
                          <a:cs typeface="Times New Roman" panose="02020603050405020304" pitchFamily="18" charset="0"/>
                        </a:rPr>
                        <a:t>Limited</a:t>
                      </a:r>
                    </a:p>
                  </a:txBody>
                  <a:tcPr anchor="ctr"/>
                </a:tc>
                <a:tc>
                  <a:txBody>
                    <a:bodyPr/>
                    <a:lstStyle/>
                    <a:p>
                      <a:pPr>
                        <a:buNone/>
                      </a:pPr>
                      <a:r>
                        <a:rPr lang="en-IN">
                          <a:latin typeface="Times New Roman" panose="02020603050405020304" pitchFamily="18" charset="0"/>
                          <a:cs typeface="Times New Roman" panose="02020603050405020304" pitchFamily="18" charset="0"/>
                        </a:rPr>
                        <a:t>MySQL / PostgreSQL</a:t>
                      </a:r>
                    </a:p>
                  </a:txBody>
                  <a:tcPr anchor="ctr"/>
                </a:tc>
                <a:extLst>
                  <a:ext uri="{0D108BD9-81ED-4DB2-BD59-A6C34878D82A}">
                    <a16:rowId xmlns:a16="http://schemas.microsoft.com/office/drawing/2014/main" val="2439032682"/>
                  </a:ext>
                </a:extLst>
              </a:tr>
              <a:tr h="0">
                <a:tc>
                  <a:txBody>
                    <a:bodyPr/>
                    <a:lstStyle/>
                    <a:p>
                      <a:pPr>
                        <a:buNone/>
                      </a:pPr>
                      <a:r>
                        <a:rPr lang="en-IN">
                          <a:latin typeface="Times New Roman" panose="02020603050405020304" pitchFamily="18" charset="0"/>
                          <a:cs typeface="Times New Roman" panose="02020603050405020304" pitchFamily="18" charset="0"/>
                        </a:rPr>
                        <a:t>AWS</a:t>
                      </a:r>
                    </a:p>
                  </a:txBody>
                  <a:tcPr anchor="ctr"/>
                </a:tc>
                <a:tc>
                  <a:txBody>
                    <a:bodyPr/>
                    <a:lstStyle/>
                    <a:p>
                      <a:pPr>
                        <a:buNone/>
                      </a:pPr>
                      <a:r>
                        <a:rPr lang="en-IN" dirty="0">
                          <a:latin typeface="Times New Roman" panose="02020603050405020304" pitchFamily="18" charset="0"/>
                          <a:cs typeface="Times New Roman" panose="02020603050405020304" pitchFamily="18" charset="0"/>
                        </a:rPr>
                        <a:t> Paid</a:t>
                      </a:r>
                    </a:p>
                  </a:txBody>
                  <a:tcPr anchor="ctr"/>
                </a:tc>
                <a:tc>
                  <a:txBody>
                    <a:bodyPr/>
                    <a:lstStyle/>
                    <a:p>
                      <a:pPr>
                        <a:buNone/>
                      </a:pPr>
                      <a:r>
                        <a:rPr lang="en-IN">
                          <a:latin typeface="Times New Roman" panose="02020603050405020304" pitchFamily="18" charset="0"/>
                          <a:cs typeface="Times New Roman" panose="02020603050405020304" pitchFamily="18" charset="0"/>
                        </a:rPr>
                        <a:t>RDS</a:t>
                      </a:r>
                    </a:p>
                  </a:txBody>
                  <a:tcPr anchor="ctr"/>
                </a:tc>
                <a:extLst>
                  <a:ext uri="{0D108BD9-81ED-4DB2-BD59-A6C34878D82A}">
                    <a16:rowId xmlns:a16="http://schemas.microsoft.com/office/drawing/2014/main" val="2643905240"/>
                  </a:ext>
                </a:extLst>
              </a:tr>
              <a:tr h="0">
                <a:tc>
                  <a:txBody>
                    <a:bodyPr/>
                    <a:lstStyle/>
                    <a:p>
                      <a:pPr>
                        <a:buNone/>
                      </a:pPr>
                      <a:r>
                        <a:rPr lang="en-IN">
                          <a:latin typeface="Times New Roman" panose="02020603050405020304" pitchFamily="18" charset="0"/>
                          <a:cs typeface="Times New Roman" panose="02020603050405020304" pitchFamily="18" charset="0"/>
                        </a:rPr>
                        <a:t>Azure</a:t>
                      </a:r>
                    </a:p>
                  </a:txBody>
                  <a:tcPr anchor="ctr"/>
                </a:tc>
                <a:tc>
                  <a:txBody>
                    <a:bodyPr/>
                    <a:lstStyle/>
                    <a:p>
                      <a:pPr>
                        <a:buNone/>
                      </a:pPr>
                      <a:r>
                        <a:rPr lang="en-IN" dirty="0">
                          <a:latin typeface="Times New Roman" panose="02020603050405020304" pitchFamily="18" charset="0"/>
                          <a:cs typeface="Times New Roman" panose="02020603050405020304" pitchFamily="18" charset="0"/>
                        </a:rPr>
                        <a:t> Paid</a:t>
                      </a:r>
                    </a:p>
                  </a:txBody>
                  <a:tcPr anchor="ctr"/>
                </a:tc>
                <a:tc>
                  <a:txBody>
                    <a:bodyPr/>
                    <a:lstStyle/>
                    <a:p>
                      <a:pPr>
                        <a:buNone/>
                      </a:pPr>
                      <a:r>
                        <a:rPr lang="en-IN">
                          <a:latin typeface="Times New Roman" panose="02020603050405020304" pitchFamily="18" charset="0"/>
                          <a:cs typeface="Times New Roman" panose="02020603050405020304" pitchFamily="18" charset="0"/>
                        </a:rPr>
                        <a:t>Azure SQL</a:t>
                      </a:r>
                    </a:p>
                  </a:txBody>
                  <a:tcPr anchor="ctr"/>
                </a:tc>
                <a:extLst>
                  <a:ext uri="{0D108BD9-81ED-4DB2-BD59-A6C34878D82A}">
                    <a16:rowId xmlns:a16="http://schemas.microsoft.com/office/drawing/2014/main" val="4207389940"/>
                  </a:ext>
                </a:extLst>
              </a:tr>
              <a:tr h="0">
                <a:tc>
                  <a:txBody>
                    <a:bodyPr/>
                    <a:lstStyle/>
                    <a:p>
                      <a:pPr>
                        <a:buNone/>
                      </a:pPr>
                      <a:r>
                        <a:rPr lang="en-IN">
                          <a:latin typeface="Times New Roman" panose="02020603050405020304" pitchFamily="18" charset="0"/>
                          <a:cs typeface="Times New Roman" panose="02020603050405020304" pitchFamily="18" charset="0"/>
                        </a:rPr>
                        <a:t>Google Cloud</a:t>
                      </a:r>
                    </a:p>
                  </a:txBody>
                  <a:tcPr anchor="ctr"/>
                </a:tc>
                <a:tc>
                  <a:txBody>
                    <a:bodyPr/>
                    <a:lstStyle/>
                    <a:p>
                      <a:pPr>
                        <a:buNone/>
                      </a:pPr>
                      <a:r>
                        <a:rPr lang="en-IN" dirty="0">
                          <a:latin typeface="Times New Roman" panose="02020603050405020304" pitchFamily="18" charset="0"/>
                          <a:cs typeface="Times New Roman" panose="02020603050405020304" pitchFamily="18" charset="0"/>
                        </a:rPr>
                        <a:t> Trial</a:t>
                      </a:r>
                    </a:p>
                  </a:txBody>
                  <a:tcPr anchor="ctr"/>
                </a:tc>
                <a:tc>
                  <a:txBody>
                    <a:bodyPr/>
                    <a:lstStyle/>
                    <a:p>
                      <a:pPr>
                        <a:buNone/>
                      </a:pPr>
                      <a:r>
                        <a:rPr lang="en-IN">
                          <a:latin typeface="Times New Roman" panose="02020603050405020304" pitchFamily="18" charset="0"/>
                          <a:cs typeface="Times New Roman" panose="02020603050405020304" pitchFamily="18" charset="0"/>
                        </a:rPr>
                        <a:t>Cloud SQL</a:t>
                      </a:r>
                    </a:p>
                  </a:txBody>
                  <a:tcPr anchor="ctr"/>
                </a:tc>
                <a:extLst>
                  <a:ext uri="{0D108BD9-81ED-4DB2-BD59-A6C34878D82A}">
                    <a16:rowId xmlns:a16="http://schemas.microsoft.com/office/drawing/2014/main" val="1995138319"/>
                  </a:ext>
                </a:extLst>
              </a:tr>
              <a:tr h="0">
                <a:tc>
                  <a:txBody>
                    <a:bodyPr/>
                    <a:lstStyle/>
                    <a:p>
                      <a:pPr>
                        <a:buNone/>
                      </a:pPr>
                      <a:r>
                        <a:rPr lang="en-IN">
                          <a:latin typeface="Times New Roman" panose="02020603050405020304" pitchFamily="18" charset="0"/>
                          <a:cs typeface="Times New Roman" panose="02020603050405020304" pitchFamily="18" charset="0"/>
                        </a:rPr>
                        <a:t>Heroku</a:t>
                      </a:r>
                    </a:p>
                  </a:txBody>
                  <a:tcPr anchor="ctr"/>
                </a:tc>
                <a:tc>
                  <a:txBody>
                    <a:bodyPr/>
                    <a:lstStyle/>
                    <a:p>
                      <a:pPr>
                        <a:buNone/>
                      </a:pPr>
                      <a:r>
                        <a:rPr lang="en-IN" dirty="0">
                          <a:latin typeface="Times New Roman" panose="02020603050405020304" pitchFamily="18" charset="0"/>
                          <a:cs typeface="Times New Roman" panose="02020603050405020304" pitchFamily="18" charset="0"/>
                        </a:rPr>
                        <a:t> Paid</a:t>
                      </a:r>
                    </a:p>
                  </a:txBody>
                  <a:tcPr anchor="ctr"/>
                </a:tc>
                <a:tc>
                  <a:txBody>
                    <a:bodyPr/>
                    <a:lstStyle/>
                    <a:p>
                      <a:pPr>
                        <a:buNone/>
                      </a:pPr>
                      <a:r>
                        <a:rPr lang="en-IN" dirty="0">
                          <a:latin typeface="Times New Roman" panose="02020603050405020304" pitchFamily="18" charset="0"/>
                          <a:cs typeface="Times New Roman" panose="02020603050405020304" pitchFamily="18" charset="0"/>
                        </a:rPr>
                        <a:t>PostgreSQL</a:t>
                      </a:r>
                    </a:p>
                  </a:txBody>
                  <a:tcPr anchor="ctr"/>
                </a:tc>
                <a:extLst>
                  <a:ext uri="{0D108BD9-81ED-4DB2-BD59-A6C34878D82A}">
                    <a16:rowId xmlns:a16="http://schemas.microsoft.com/office/drawing/2014/main" val="929906291"/>
                  </a:ext>
                </a:extLst>
              </a:tr>
            </a:tbl>
          </a:graphicData>
        </a:graphic>
      </p:graphicFrame>
    </p:spTree>
    <p:extLst>
      <p:ext uri="{BB962C8B-B14F-4D97-AF65-F5344CB8AC3E}">
        <p14:creationId xmlns:p14="http://schemas.microsoft.com/office/powerpoint/2010/main" val="15252847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767B01-82E8-EC84-4716-5B9DE4B9A484}"/>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5978C0D9-2515-A85F-5A0D-7D3CB077AA84}"/>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D6CF9670-D096-09A3-E241-562B980B238B}"/>
              </a:ext>
            </a:extLst>
          </p:cNvPr>
          <p:cNvSpPr>
            <a:spLocks noGrp="1"/>
          </p:cNvSpPr>
          <p:nvPr>
            <p:ph type="sldNum" sz="quarter" idx="12"/>
          </p:nvPr>
        </p:nvSpPr>
        <p:spPr/>
        <p:txBody>
          <a:bodyPr/>
          <a:lstStyle/>
          <a:p>
            <a:fld id="{5B1B64FC-C0C6-4D40-9891-AD39CFB51AC3}" type="slidenum">
              <a:rPr lang="en-IN" smtClean="0"/>
              <a:t>32</a:t>
            </a:fld>
            <a:endParaRPr lang="en-IN"/>
          </a:p>
        </p:txBody>
      </p:sp>
      <p:sp>
        <p:nvSpPr>
          <p:cNvPr id="5" name="Title 4">
            <a:extLst>
              <a:ext uri="{FF2B5EF4-FFF2-40B4-BE49-F238E27FC236}">
                <a16:creationId xmlns:a16="http://schemas.microsoft.com/office/drawing/2014/main" id="{FFE696DC-D138-8F6E-D726-0A2F8D313B6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Cloud Deployment Architecture</a:t>
            </a:r>
          </a:p>
        </p:txBody>
      </p:sp>
      <p:pic>
        <p:nvPicPr>
          <p:cNvPr id="7" name="Picture 6">
            <a:extLst>
              <a:ext uri="{FF2B5EF4-FFF2-40B4-BE49-F238E27FC236}">
                <a16:creationId xmlns:a16="http://schemas.microsoft.com/office/drawing/2014/main" id="{41EA5DCE-FB6C-FB22-3F79-851EAE00F830}"/>
              </a:ext>
            </a:extLst>
          </p:cNvPr>
          <p:cNvPicPr>
            <a:picLocks noChangeAspect="1"/>
          </p:cNvPicPr>
          <p:nvPr/>
        </p:nvPicPr>
        <p:blipFill>
          <a:blip r:embed="rId2"/>
          <a:stretch>
            <a:fillRect/>
          </a:stretch>
        </p:blipFill>
        <p:spPr>
          <a:xfrm>
            <a:off x="0" y="952500"/>
            <a:ext cx="5252663" cy="5905500"/>
          </a:xfrm>
          <a:prstGeom prst="rect">
            <a:avLst/>
          </a:prstGeom>
        </p:spPr>
      </p:pic>
      <p:sp>
        <p:nvSpPr>
          <p:cNvPr id="9" name="TextBox 8">
            <a:extLst>
              <a:ext uri="{FF2B5EF4-FFF2-40B4-BE49-F238E27FC236}">
                <a16:creationId xmlns:a16="http://schemas.microsoft.com/office/drawing/2014/main" id="{BB39B3AB-706F-129E-D612-A8DA53E25418}"/>
              </a:ext>
            </a:extLst>
          </p:cNvPr>
          <p:cNvSpPr txBox="1"/>
          <p:nvPr/>
        </p:nvSpPr>
        <p:spPr>
          <a:xfrm>
            <a:off x="5560141" y="1085322"/>
            <a:ext cx="6100916" cy="313932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 Application deployed on Render Cloud</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Database hosted on Railway MySQL</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Docker used for containerization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GitHub used for version control and deployment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Environment variables used for secure database configuration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Publicly accessible web application</a:t>
            </a:r>
          </a:p>
        </p:txBody>
      </p:sp>
      <p:sp>
        <p:nvSpPr>
          <p:cNvPr id="11" name="TextBox 10">
            <a:extLst>
              <a:ext uri="{FF2B5EF4-FFF2-40B4-BE49-F238E27FC236}">
                <a16:creationId xmlns:a16="http://schemas.microsoft.com/office/drawing/2014/main" id="{C1B51384-5A84-1858-E37B-72193083A157}"/>
              </a:ext>
            </a:extLst>
          </p:cNvPr>
          <p:cNvSpPr txBox="1"/>
          <p:nvPr/>
        </p:nvSpPr>
        <p:spPr>
          <a:xfrm>
            <a:off x="5560141" y="5332824"/>
            <a:ext cx="6100916" cy="64633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Live Deployment URL:</a:t>
            </a:r>
          </a:p>
          <a:p>
            <a:r>
              <a:rPr lang="en-IN" dirty="0">
                <a:latin typeface="Times New Roman" panose="02020603050405020304" pitchFamily="18" charset="0"/>
                <a:cs typeface="Times New Roman" panose="02020603050405020304" pitchFamily="18" charset="0"/>
              </a:rPr>
              <a:t>https://ai-powered-clinic-management.onrender.com</a:t>
            </a:r>
          </a:p>
        </p:txBody>
      </p:sp>
    </p:spTree>
    <p:extLst>
      <p:ext uri="{BB962C8B-B14F-4D97-AF65-F5344CB8AC3E}">
        <p14:creationId xmlns:p14="http://schemas.microsoft.com/office/powerpoint/2010/main" val="3871684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AE8573-A8A4-44EE-61A5-6063687CF06F}"/>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E048A13A-BC09-27B8-7BB2-19551FC4C77B}"/>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D036BFC3-7C09-E45E-9734-41AE1B8DC897}"/>
              </a:ext>
            </a:extLst>
          </p:cNvPr>
          <p:cNvSpPr>
            <a:spLocks noGrp="1"/>
          </p:cNvSpPr>
          <p:nvPr>
            <p:ph type="sldNum" sz="quarter" idx="12"/>
          </p:nvPr>
        </p:nvSpPr>
        <p:spPr/>
        <p:txBody>
          <a:bodyPr/>
          <a:lstStyle/>
          <a:p>
            <a:fld id="{5B1B64FC-C0C6-4D40-9891-AD39CFB51AC3}" type="slidenum">
              <a:rPr lang="en-IN" smtClean="0"/>
              <a:t>33</a:t>
            </a:fld>
            <a:endParaRPr lang="en-IN"/>
          </a:p>
        </p:txBody>
      </p:sp>
      <p:sp>
        <p:nvSpPr>
          <p:cNvPr id="5" name="Title 4">
            <a:extLst>
              <a:ext uri="{FF2B5EF4-FFF2-40B4-BE49-F238E27FC236}">
                <a16:creationId xmlns:a16="http://schemas.microsoft.com/office/drawing/2014/main" id="{EED6E38F-F1C6-B18E-1552-BCAEDA40D62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Docker-Based Application Packaging</a:t>
            </a:r>
          </a:p>
        </p:txBody>
      </p:sp>
      <p:sp>
        <p:nvSpPr>
          <p:cNvPr id="7" name="TextBox 6">
            <a:extLst>
              <a:ext uri="{FF2B5EF4-FFF2-40B4-BE49-F238E27FC236}">
                <a16:creationId xmlns:a16="http://schemas.microsoft.com/office/drawing/2014/main" id="{BC996F39-4413-6115-F1BC-B8138DF11406}"/>
              </a:ext>
            </a:extLst>
          </p:cNvPr>
          <p:cNvSpPr txBox="1"/>
          <p:nvPr/>
        </p:nvSpPr>
        <p:spPr>
          <a:xfrm>
            <a:off x="3411180" y="1240842"/>
            <a:ext cx="6100916" cy="3970318"/>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Why Docker?</a:t>
            </a:r>
          </a:p>
          <a:p>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Java Spring Boot applications are not directly supported on Render Free Tier.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Docker was used to package the complete application. </a:t>
            </a:r>
          </a:p>
          <a:p>
            <a:r>
              <a:rPr lang="en-IN" dirty="0">
                <a:latin typeface="Times New Roman" panose="02020603050405020304" pitchFamily="18" charset="0"/>
                <a:cs typeface="Times New Roman" panose="02020603050405020304" pitchFamily="18" charset="0"/>
              </a:rPr>
              <a:t>Docker includes: </a:t>
            </a:r>
          </a:p>
          <a:p>
            <a:pPr lvl="1"/>
            <a:r>
              <a:rPr lang="en-IN" dirty="0">
                <a:latin typeface="Times New Roman" panose="02020603050405020304" pitchFamily="18" charset="0"/>
                <a:cs typeface="Times New Roman" panose="02020603050405020304" pitchFamily="18" charset="0"/>
              </a:rPr>
              <a:t>Java Runtime </a:t>
            </a:r>
          </a:p>
          <a:p>
            <a:pPr lvl="1"/>
            <a:r>
              <a:rPr lang="en-IN" dirty="0">
                <a:latin typeface="Times New Roman" panose="02020603050405020304" pitchFamily="18" charset="0"/>
                <a:cs typeface="Times New Roman" panose="02020603050405020304" pitchFamily="18" charset="0"/>
              </a:rPr>
              <a:t>Spring Boot Application </a:t>
            </a:r>
          </a:p>
          <a:p>
            <a:pPr lvl="1"/>
            <a:r>
              <a:rPr lang="en-IN" dirty="0">
                <a:latin typeface="Times New Roman" panose="02020603050405020304" pitchFamily="18" charset="0"/>
                <a:cs typeface="Times New Roman" panose="02020603050405020304" pitchFamily="18" charset="0"/>
              </a:rPr>
              <a:t>Required Dependencies </a:t>
            </a:r>
          </a:p>
          <a:p>
            <a:pPr lvl="1"/>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It ensures the application runs the same way on every machine. </a:t>
            </a:r>
          </a:p>
          <a:p>
            <a:r>
              <a:rPr lang="en-IN" dirty="0">
                <a:latin typeface="Times New Roman" panose="02020603050405020304" pitchFamily="18" charset="0"/>
                <a:cs typeface="Times New Roman" panose="02020603050405020304" pitchFamily="18" charset="0"/>
              </a:rPr>
              <a:t>Makes deployment simple and reliable. </a:t>
            </a:r>
          </a:p>
          <a:p>
            <a:pPr>
              <a:buNone/>
            </a:pPr>
            <a:endParaRPr lang="en-IN"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4B9A7A6-20E4-7A61-9878-0C9193E174D8}"/>
              </a:ext>
            </a:extLst>
          </p:cNvPr>
          <p:cNvPicPr>
            <a:picLocks noChangeAspect="1"/>
          </p:cNvPicPr>
          <p:nvPr/>
        </p:nvPicPr>
        <p:blipFill>
          <a:blip r:embed="rId2"/>
          <a:stretch>
            <a:fillRect/>
          </a:stretch>
        </p:blipFill>
        <p:spPr>
          <a:xfrm>
            <a:off x="0" y="952500"/>
            <a:ext cx="2689412" cy="5905500"/>
          </a:xfrm>
          <a:prstGeom prst="rect">
            <a:avLst/>
          </a:prstGeom>
        </p:spPr>
      </p:pic>
    </p:spTree>
    <p:extLst>
      <p:ext uri="{BB962C8B-B14F-4D97-AF65-F5344CB8AC3E}">
        <p14:creationId xmlns:p14="http://schemas.microsoft.com/office/powerpoint/2010/main" val="1945556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D628E5-73A4-A1DA-9375-F23CA4AB28AC}"/>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A97AFCF-A1D9-A980-1ADD-1E10A2A1584D}"/>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5A827D46-F30D-D85C-FD90-09E5A905F263}"/>
              </a:ext>
            </a:extLst>
          </p:cNvPr>
          <p:cNvSpPr>
            <a:spLocks noGrp="1"/>
          </p:cNvSpPr>
          <p:nvPr>
            <p:ph type="sldNum" sz="quarter" idx="12"/>
          </p:nvPr>
        </p:nvSpPr>
        <p:spPr/>
        <p:txBody>
          <a:bodyPr/>
          <a:lstStyle/>
          <a:p>
            <a:fld id="{5B1B64FC-C0C6-4D40-9891-AD39CFB51AC3}" type="slidenum">
              <a:rPr lang="en-IN" smtClean="0"/>
              <a:t>34</a:t>
            </a:fld>
            <a:endParaRPr lang="en-IN"/>
          </a:p>
        </p:txBody>
      </p:sp>
      <p:sp>
        <p:nvSpPr>
          <p:cNvPr id="5" name="Title 4">
            <a:extLst>
              <a:ext uri="{FF2B5EF4-FFF2-40B4-BE49-F238E27FC236}">
                <a16:creationId xmlns:a16="http://schemas.microsoft.com/office/drawing/2014/main" id="{1F7D38C2-F604-C199-5E03-94D0F6F5E0A1}"/>
              </a:ext>
            </a:extLst>
          </p:cNvPr>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Dockerfile</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5ADD751-AEA1-7E46-A3F8-ED22BC3A3813}"/>
              </a:ext>
            </a:extLst>
          </p:cNvPr>
          <p:cNvPicPr>
            <a:picLocks noChangeAspect="1"/>
          </p:cNvPicPr>
          <p:nvPr/>
        </p:nvPicPr>
        <p:blipFill>
          <a:blip r:embed="rId2"/>
          <a:stretch>
            <a:fillRect/>
          </a:stretch>
        </p:blipFill>
        <p:spPr>
          <a:xfrm>
            <a:off x="0" y="952500"/>
            <a:ext cx="6390968" cy="5928852"/>
          </a:xfrm>
          <a:prstGeom prst="rect">
            <a:avLst/>
          </a:prstGeom>
        </p:spPr>
      </p:pic>
      <p:sp>
        <p:nvSpPr>
          <p:cNvPr id="14" name="TextBox 13">
            <a:extLst>
              <a:ext uri="{FF2B5EF4-FFF2-40B4-BE49-F238E27FC236}">
                <a16:creationId xmlns:a16="http://schemas.microsoft.com/office/drawing/2014/main" id="{5D2F05EB-9234-43FD-7A39-2BFA871545DA}"/>
              </a:ext>
            </a:extLst>
          </p:cNvPr>
          <p:cNvSpPr txBox="1"/>
          <p:nvPr/>
        </p:nvSpPr>
        <p:spPr>
          <a:xfrm>
            <a:off x="6580240" y="1242055"/>
            <a:ext cx="6100916" cy="3331938"/>
          </a:xfrm>
          <a:prstGeom prst="rect">
            <a:avLst/>
          </a:prstGeom>
          <a:noFill/>
        </p:spPr>
        <p:txBody>
          <a:bodyPr wrap="square">
            <a:spAutoFit/>
          </a:bodyPr>
          <a:lstStyle/>
          <a:p>
            <a:pPr>
              <a:lnSpc>
                <a:spcPct val="200000"/>
              </a:lnSpc>
              <a:buNone/>
            </a:pPr>
            <a:r>
              <a:rPr lang="en-IN" b="1" dirty="0">
                <a:latin typeface="Times New Roman" panose="02020603050405020304" pitchFamily="18" charset="0"/>
                <a:cs typeface="Times New Roman" panose="02020603050405020304" pitchFamily="18" charset="0"/>
              </a:rPr>
              <a:t>Key Functions</a:t>
            </a:r>
          </a:p>
          <a:p>
            <a:pPr>
              <a:lnSpc>
                <a:spcPct val="200000"/>
              </a:lnSpc>
              <a:buNone/>
            </a:pPr>
            <a:r>
              <a:rPr lang="en-IN" dirty="0">
                <a:latin typeface="Times New Roman" panose="02020603050405020304" pitchFamily="18" charset="0"/>
                <a:cs typeface="Times New Roman" panose="02020603050405020304" pitchFamily="18" charset="0"/>
              </a:rPr>
              <a:t>Builds Spring Boot application using Maven</a:t>
            </a:r>
          </a:p>
          <a:p>
            <a:pPr>
              <a:lnSpc>
                <a:spcPct val="200000"/>
              </a:lnSpc>
              <a:buNone/>
            </a:pPr>
            <a:r>
              <a:rPr lang="en-IN" dirty="0">
                <a:latin typeface="Times New Roman" panose="02020603050405020304" pitchFamily="18" charset="0"/>
                <a:cs typeface="Times New Roman" panose="02020603050405020304" pitchFamily="18" charset="0"/>
              </a:rPr>
              <a:t>Creates executable JAR file</a:t>
            </a:r>
          </a:p>
          <a:p>
            <a:pPr>
              <a:lnSpc>
                <a:spcPct val="200000"/>
              </a:lnSpc>
              <a:buNone/>
            </a:pPr>
            <a:r>
              <a:rPr lang="en-IN" dirty="0">
                <a:latin typeface="Times New Roman" panose="02020603050405020304" pitchFamily="18" charset="0"/>
                <a:cs typeface="Times New Roman" panose="02020603050405020304" pitchFamily="18" charset="0"/>
              </a:rPr>
              <a:t>Packages application into Docker container</a:t>
            </a:r>
          </a:p>
          <a:p>
            <a:pPr>
              <a:lnSpc>
                <a:spcPct val="200000"/>
              </a:lnSpc>
              <a:buNone/>
            </a:pPr>
            <a:r>
              <a:rPr lang="en-IN" dirty="0">
                <a:latin typeface="Times New Roman" panose="02020603050405020304" pitchFamily="18" charset="0"/>
                <a:cs typeface="Times New Roman" panose="02020603050405020304" pitchFamily="18" charset="0"/>
              </a:rPr>
              <a:t>Exposes port 8080</a:t>
            </a:r>
          </a:p>
          <a:p>
            <a:pPr>
              <a:lnSpc>
                <a:spcPct val="200000"/>
              </a:lnSpc>
              <a:buNone/>
            </a:pPr>
            <a:r>
              <a:rPr lang="en-IN" dirty="0">
                <a:latin typeface="Times New Roman" panose="02020603050405020304" pitchFamily="18" charset="0"/>
                <a:cs typeface="Times New Roman" panose="02020603050405020304" pitchFamily="18" charset="0"/>
              </a:rPr>
              <a:t>Starts application automatically on deployment</a:t>
            </a:r>
          </a:p>
        </p:txBody>
      </p:sp>
    </p:spTree>
    <p:extLst>
      <p:ext uri="{BB962C8B-B14F-4D97-AF65-F5344CB8AC3E}">
        <p14:creationId xmlns:p14="http://schemas.microsoft.com/office/powerpoint/2010/main" val="293012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251A51-F9AD-7642-BE55-AEF196221E94}"/>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1C094377-45C2-A33D-3A87-00FA3DE2086C}"/>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EFD461E4-C99B-070E-2630-D0373C0B55E9}"/>
              </a:ext>
            </a:extLst>
          </p:cNvPr>
          <p:cNvSpPr>
            <a:spLocks noGrp="1"/>
          </p:cNvSpPr>
          <p:nvPr>
            <p:ph type="sldNum" sz="quarter" idx="12"/>
          </p:nvPr>
        </p:nvSpPr>
        <p:spPr/>
        <p:txBody>
          <a:bodyPr/>
          <a:lstStyle/>
          <a:p>
            <a:fld id="{5B1B64FC-C0C6-4D40-9891-AD39CFB51AC3}" type="slidenum">
              <a:rPr lang="en-IN" smtClean="0"/>
              <a:t>35</a:t>
            </a:fld>
            <a:endParaRPr lang="en-IN"/>
          </a:p>
        </p:txBody>
      </p:sp>
      <p:sp>
        <p:nvSpPr>
          <p:cNvPr id="5" name="Title 4">
            <a:extLst>
              <a:ext uri="{FF2B5EF4-FFF2-40B4-BE49-F238E27FC236}">
                <a16:creationId xmlns:a16="http://schemas.microsoft.com/office/drawing/2014/main" id="{F9090910-5DEC-C65C-AB8F-B371477BA1AE}"/>
              </a:ext>
            </a:extLst>
          </p:cNvPr>
          <p:cNvSpPr>
            <a:spLocks noGrp="1"/>
          </p:cNvSpPr>
          <p:nvPr>
            <p:ph type="title"/>
          </p:nvPr>
        </p:nvSpPr>
        <p:spPr/>
        <p:txBody>
          <a:bodyPr/>
          <a:lstStyle/>
          <a:p>
            <a:r>
              <a:rPr lang="fr-FR" dirty="0">
                <a:latin typeface="Times New Roman" panose="02020603050405020304" pitchFamily="18" charset="0"/>
                <a:cs typeface="Times New Roman" panose="02020603050405020304" pitchFamily="18" charset="0"/>
              </a:rPr>
              <a:t>Version Control Management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7E4E34C-2E51-2A68-6B67-3E712568F476}"/>
              </a:ext>
            </a:extLst>
          </p:cNvPr>
          <p:cNvSpPr txBox="1"/>
          <p:nvPr/>
        </p:nvSpPr>
        <p:spPr>
          <a:xfrm>
            <a:off x="0" y="839311"/>
            <a:ext cx="6100916" cy="2120068"/>
          </a:xfrm>
          <a:prstGeom prst="rect">
            <a:avLst/>
          </a:prstGeom>
          <a:noFill/>
        </p:spPr>
        <p:txBody>
          <a:bodyPr wrap="square">
            <a:spAutoFit/>
          </a:bodyPr>
          <a:lstStyle/>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Project is developed in IntelliJ IDEA.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Changes were committed using Git.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Source code is pushed to GitHub repository.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Render automatically fetched the latest code from GitHub. </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Every new push triggers automatic deployment. </a:t>
            </a:r>
          </a:p>
        </p:txBody>
      </p:sp>
      <p:pic>
        <p:nvPicPr>
          <p:cNvPr id="1026" name="Picture 2">
            <a:extLst>
              <a:ext uri="{FF2B5EF4-FFF2-40B4-BE49-F238E27FC236}">
                <a16:creationId xmlns:a16="http://schemas.microsoft.com/office/drawing/2014/main" id="{962E0FA5-263F-526B-B460-EF4E3F6845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8338" y="1208904"/>
            <a:ext cx="2447925" cy="46555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F596640-7FBC-E9BC-866C-E28BE5F45ECF}"/>
              </a:ext>
            </a:extLst>
          </p:cNvPr>
          <p:cNvPicPr>
            <a:picLocks noChangeAspect="1"/>
          </p:cNvPicPr>
          <p:nvPr/>
        </p:nvPicPr>
        <p:blipFill>
          <a:blip r:embed="rId3"/>
          <a:stretch>
            <a:fillRect/>
          </a:stretch>
        </p:blipFill>
        <p:spPr>
          <a:xfrm>
            <a:off x="0" y="2959378"/>
            <a:ext cx="6867832" cy="3898621"/>
          </a:xfrm>
          <a:prstGeom prst="rect">
            <a:avLst/>
          </a:prstGeom>
        </p:spPr>
      </p:pic>
    </p:spTree>
    <p:extLst>
      <p:ext uri="{BB962C8B-B14F-4D97-AF65-F5344CB8AC3E}">
        <p14:creationId xmlns:p14="http://schemas.microsoft.com/office/powerpoint/2010/main" val="2876914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FA0F39-56FD-53CA-AC25-EF16541428CF}"/>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C4EA0CF7-3D91-28D6-1BAD-F71524055F03}"/>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F8C211D4-AAEA-C8EB-8BA3-7580989DEB39}"/>
              </a:ext>
            </a:extLst>
          </p:cNvPr>
          <p:cNvSpPr>
            <a:spLocks noGrp="1"/>
          </p:cNvSpPr>
          <p:nvPr>
            <p:ph type="sldNum" sz="quarter" idx="12"/>
          </p:nvPr>
        </p:nvSpPr>
        <p:spPr/>
        <p:txBody>
          <a:bodyPr/>
          <a:lstStyle/>
          <a:p>
            <a:fld id="{5B1B64FC-C0C6-4D40-9891-AD39CFB51AC3}" type="slidenum">
              <a:rPr lang="en-IN" smtClean="0"/>
              <a:t>36</a:t>
            </a:fld>
            <a:endParaRPr lang="en-IN"/>
          </a:p>
        </p:txBody>
      </p:sp>
      <p:sp>
        <p:nvSpPr>
          <p:cNvPr id="5" name="Title 4">
            <a:extLst>
              <a:ext uri="{FF2B5EF4-FFF2-40B4-BE49-F238E27FC236}">
                <a16:creationId xmlns:a16="http://schemas.microsoft.com/office/drawing/2014/main" id="{E31C2EBB-7E1D-1928-44FD-3291874381F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Cloud Database Deployment</a:t>
            </a:r>
          </a:p>
        </p:txBody>
      </p:sp>
      <p:sp>
        <p:nvSpPr>
          <p:cNvPr id="7" name="TextBox 6">
            <a:extLst>
              <a:ext uri="{FF2B5EF4-FFF2-40B4-BE49-F238E27FC236}">
                <a16:creationId xmlns:a16="http://schemas.microsoft.com/office/drawing/2014/main" id="{04F7D96F-7C14-E3E5-9742-B69332888A3C}"/>
              </a:ext>
            </a:extLst>
          </p:cNvPr>
          <p:cNvSpPr txBox="1"/>
          <p:nvPr/>
        </p:nvSpPr>
        <p:spPr>
          <a:xfrm>
            <a:off x="-4916" y="1154046"/>
            <a:ext cx="6100916" cy="2777940"/>
          </a:xfrm>
          <a:prstGeom prst="rect">
            <a:avLst/>
          </a:prstGeom>
          <a:noFill/>
        </p:spPr>
        <p:txBody>
          <a:bodyPr wrap="square">
            <a:spAutoFit/>
          </a:bodyPr>
          <a:lstStyle/>
          <a:p>
            <a:pPr>
              <a:lnSpc>
                <a:spcPct val="200000"/>
              </a:lnSpc>
              <a:buNone/>
            </a:pPr>
            <a:r>
              <a:rPr lang="en-IN" b="1" dirty="0">
                <a:latin typeface="Times New Roman" panose="02020603050405020304" pitchFamily="18" charset="0"/>
                <a:cs typeface="Times New Roman" panose="02020603050405020304" pitchFamily="18" charset="0"/>
              </a:rPr>
              <a:t>Railway MySQL Database provides:</a:t>
            </a:r>
          </a:p>
          <a:p>
            <a:pPr>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Managed cloud database service </a:t>
            </a:r>
          </a:p>
          <a:p>
            <a:pPr>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Accessible from anywhere through the internet </a:t>
            </a:r>
          </a:p>
          <a:p>
            <a:pPr>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storage of database credentials </a:t>
            </a:r>
          </a:p>
          <a:p>
            <a:pPr>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Easy integration with Spring Boot applications</a:t>
            </a:r>
          </a:p>
        </p:txBody>
      </p:sp>
      <p:pic>
        <p:nvPicPr>
          <p:cNvPr id="9" name="Picture 8">
            <a:extLst>
              <a:ext uri="{FF2B5EF4-FFF2-40B4-BE49-F238E27FC236}">
                <a16:creationId xmlns:a16="http://schemas.microsoft.com/office/drawing/2014/main" id="{7C1910B4-650F-72ED-4ACB-F7CCC47FC2EE}"/>
              </a:ext>
            </a:extLst>
          </p:cNvPr>
          <p:cNvPicPr>
            <a:picLocks noChangeAspect="1"/>
          </p:cNvPicPr>
          <p:nvPr/>
        </p:nvPicPr>
        <p:blipFill>
          <a:blip r:embed="rId2"/>
          <a:stretch>
            <a:fillRect/>
          </a:stretch>
        </p:blipFill>
        <p:spPr>
          <a:xfrm>
            <a:off x="5161936" y="952500"/>
            <a:ext cx="7030064" cy="5788024"/>
          </a:xfrm>
          <a:prstGeom prst="rect">
            <a:avLst/>
          </a:prstGeom>
        </p:spPr>
      </p:pic>
    </p:spTree>
    <p:extLst>
      <p:ext uri="{BB962C8B-B14F-4D97-AF65-F5344CB8AC3E}">
        <p14:creationId xmlns:p14="http://schemas.microsoft.com/office/powerpoint/2010/main" val="2889326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E02050-DE05-46A6-ED97-73FFD173BB3E}"/>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0AAB99E6-8466-9491-3A1A-EA358F128889}"/>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B671F73D-67A6-2751-0CE4-72E945B524A7}"/>
              </a:ext>
            </a:extLst>
          </p:cNvPr>
          <p:cNvSpPr>
            <a:spLocks noGrp="1"/>
          </p:cNvSpPr>
          <p:nvPr>
            <p:ph type="sldNum" sz="quarter" idx="12"/>
          </p:nvPr>
        </p:nvSpPr>
        <p:spPr/>
        <p:txBody>
          <a:bodyPr/>
          <a:lstStyle/>
          <a:p>
            <a:fld id="{5B1B64FC-C0C6-4D40-9891-AD39CFB51AC3}" type="slidenum">
              <a:rPr lang="en-IN" smtClean="0"/>
              <a:t>37</a:t>
            </a:fld>
            <a:endParaRPr lang="en-IN"/>
          </a:p>
        </p:txBody>
      </p:sp>
      <p:sp>
        <p:nvSpPr>
          <p:cNvPr id="5" name="Title 4">
            <a:extLst>
              <a:ext uri="{FF2B5EF4-FFF2-40B4-BE49-F238E27FC236}">
                <a16:creationId xmlns:a16="http://schemas.microsoft.com/office/drawing/2014/main" id="{8FAFD7B1-103C-E431-DDED-4657336069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Application Deployment on Render</a:t>
            </a:r>
          </a:p>
        </p:txBody>
      </p:sp>
      <p:pic>
        <p:nvPicPr>
          <p:cNvPr id="2050" name="Picture 2">
            <a:extLst>
              <a:ext uri="{FF2B5EF4-FFF2-40B4-BE49-F238E27FC236}">
                <a16:creationId xmlns:a16="http://schemas.microsoft.com/office/drawing/2014/main" id="{D8697CA9-9D5C-9211-2B28-7105536B5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7354" y="952500"/>
            <a:ext cx="2259447" cy="578802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D4CF071-8F0C-77D3-DA9B-942CFCB0CBBB}"/>
              </a:ext>
            </a:extLst>
          </p:cNvPr>
          <p:cNvSpPr txBox="1"/>
          <p:nvPr/>
        </p:nvSpPr>
        <p:spPr>
          <a:xfrm>
            <a:off x="0" y="1028343"/>
            <a:ext cx="6100916" cy="480131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Deployment Activities</a:t>
            </a: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GitHub Integration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Source code hosted on GitHub </a:t>
            </a:r>
          </a:p>
          <a:p>
            <a:r>
              <a:rPr lang="en-IN" dirty="0">
                <a:latin typeface="Times New Roman" panose="02020603050405020304" pitchFamily="18" charset="0"/>
                <a:cs typeface="Times New Roman" panose="02020603050405020304" pitchFamily="18" charset="0"/>
              </a:rPr>
              <a:t>Connected GitHub repository with Render</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Docker Deployment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Docker used for application packaging </a:t>
            </a:r>
          </a:p>
          <a:p>
            <a:r>
              <a:rPr lang="en-IN" dirty="0">
                <a:latin typeface="Times New Roman" panose="02020603050405020304" pitchFamily="18" charset="0"/>
                <a:cs typeface="Times New Roman" panose="02020603050405020304" pitchFamily="18" charset="0"/>
              </a:rPr>
              <a:t>Render automatically builds and deploys the application</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Database Connection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Railway MySQL used as cloud database </a:t>
            </a:r>
          </a:p>
          <a:p>
            <a:r>
              <a:rPr lang="en-IN" dirty="0">
                <a:latin typeface="Times New Roman" panose="02020603050405020304" pitchFamily="18" charset="0"/>
                <a:cs typeface="Times New Roman" panose="02020603050405020304" pitchFamily="18" charset="0"/>
              </a:rPr>
              <a:t>Credentials managed through environment variables</a:t>
            </a:r>
          </a:p>
          <a:p>
            <a:r>
              <a:rPr lang="en-IN"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Application Startup</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Spring Boot starts automatically </a:t>
            </a:r>
          </a:p>
          <a:p>
            <a:r>
              <a:rPr lang="en-IN" dirty="0">
                <a:latin typeface="Times New Roman" panose="02020603050405020304" pitchFamily="18" charset="0"/>
                <a:cs typeface="Times New Roman" panose="02020603050405020304" pitchFamily="18" charset="0"/>
              </a:rPr>
              <a:t>Hibernate creates tables and initializes sample data</a:t>
            </a:r>
          </a:p>
        </p:txBody>
      </p:sp>
    </p:spTree>
    <p:extLst>
      <p:ext uri="{BB962C8B-B14F-4D97-AF65-F5344CB8AC3E}">
        <p14:creationId xmlns:p14="http://schemas.microsoft.com/office/powerpoint/2010/main" val="2865177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AC6FE-75CB-A4A9-17F7-E7A9E0BEAE9E}"/>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06CF4D98-B60F-A332-6861-5753EB48C0FE}"/>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5E763D89-CE8D-816A-ACD1-C5A77E6E6C14}"/>
              </a:ext>
            </a:extLst>
          </p:cNvPr>
          <p:cNvSpPr>
            <a:spLocks noGrp="1"/>
          </p:cNvSpPr>
          <p:nvPr>
            <p:ph type="sldNum" sz="quarter" idx="12"/>
          </p:nvPr>
        </p:nvSpPr>
        <p:spPr/>
        <p:txBody>
          <a:bodyPr/>
          <a:lstStyle/>
          <a:p>
            <a:fld id="{5B1B64FC-C0C6-4D40-9891-AD39CFB51AC3}" type="slidenum">
              <a:rPr lang="en-IN" smtClean="0"/>
              <a:t>38</a:t>
            </a:fld>
            <a:endParaRPr lang="en-IN"/>
          </a:p>
        </p:txBody>
      </p:sp>
      <p:sp>
        <p:nvSpPr>
          <p:cNvPr id="5" name="Title 4">
            <a:extLst>
              <a:ext uri="{FF2B5EF4-FFF2-40B4-BE49-F238E27FC236}">
                <a16:creationId xmlns:a16="http://schemas.microsoft.com/office/drawing/2014/main" id="{C6ADB782-C2B2-1D6C-2D7D-86D8890B0E8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Deployment Success</a:t>
            </a:r>
          </a:p>
        </p:txBody>
      </p:sp>
      <p:pic>
        <p:nvPicPr>
          <p:cNvPr id="9" name="Picture 8">
            <a:extLst>
              <a:ext uri="{FF2B5EF4-FFF2-40B4-BE49-F238E27FC236}">
                <a16:creationId xmlns:a16="http://schemas.microsoft.com/office/drawing/2014/main" id="{25130811-F230-FC80-2435-8EA7032B0DE2}"/>
              </a:ext>
            </a:extLst>
          </p:cNvPr>
          <p:cNvPicPr>
            <a:picLocks noChangeAspect="1"/>
          </p:cNvPicPr>
          <p:nvPr/>
        </p:nvPicPr>
        <p:blipFill>
          <a:blip r:embed="rId2"/>
          <a:stretch>
            <a:fillRect/>
          </a:stretch>
        </p:blipFill>
        <p:spPr>
          <a:xfrm>
            <a:off x="457200" y="952500"/>
            <a:ext cx="11277600" cy="5828872"/>
          </a:xfrm>
          <a:prstGeom prst="rect">
            <a:avLst/>
          </a:prstGeom>
        </p:spPr>
      </p:pic>
    </p:spTree>
    <p:extLst>
      <p:ext uri="{BB962C8B-B14F-4D97-AF65-F5344CB8AC3E}">
        <p14:creationId xmlns:p14="http://schemas.microsoft.com/office/powerpoint/2010/main" val="2959705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D77754-5866-25F1-EFF9-A123BAAFBCBD}"/>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62F1EE13-2A71-94FB-8D0D-9260D1DEA12C}"/>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E6FF03D4-FF57-5A3E-9D48-48D74D5D36D7}"/>
              </a:ext>
            </a:extLst>
          </p:cNvPr>
          <p:cNvSpPr>
            <a:spLocks noGrp="1"/>
          </p:cNvSpPr>
          <p:nvPr>
            <p:ph type="sldNum" sz="quarter" idx="12"/>
          </p:nvPr>
        </p:nvSpPr>
        <p:spPr/>
        <p:txBody>
          <a:bodyPr/>
          <a:lstStyle/>
          <a:p>
            <a:fld id="{5B1B64FC-C0C6-4D40-9891-AD39CFB51AC3}" type="slidenum">
              <a:rPr lang="en-IN" smtClean="0"/>
              <a:t>39</a:t>
            </a:fld>
            <a:endParaRPr lang="en-IN"/>
          </a:p>
        </p:txBody>
      </p:sp>
      <p:sp>
        <p:nvSpPr>
          <p:cNvPr id="5" name="Title 4">
            <a:extLst>
              <a:ext uri="{FF2B5EF4-FFF2-40B4-BE49-F238E27FC236}">
                <a16:creationId xmlns:a16="http://schemas.microsoft.com/office/drawing/2014/main" id="{BA429188-BB20-DF03-60D0-ADD5A3D0D5A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Live</a:t>
            </a:r>
          </a:p>
        </p:txBody>
      </p:sp>
      <p:pic>
        <p:nvPicPr>
          <p:cNvPr id="7" name="Picture 6">
            <a:extLst>
              <a:ext uri="{FF2B5EF4-FFF2-40B4-BE49-F238E27FC236}">
                <a16:creationId xmlns:a16="http://schemas.microsoft.com/office/drawing/2014/main" id="{D6DBCEC0-CA35-8E8B-B52D-96CCDF37219F}"/>
              </a:ext>
            </a:extLst>
          </p:cNvPr>
          <p:cNvPicPr>
            <a:picLocks noChangeAspect="1"/>
          </p:cNvPicPr>
          <p:nvPr/>
        </p:nvPicPr>
        <p:blipFill>
          <a:blip r:embed="rId3"/>
          <a:stretch>
            <a:fillRect/>
          </a:stretch>
        </p:blipFill>
        <p:spPr>
          <a:xfrm>
            <a:off x="0" y="952500"/>
            <a:ext cx="12192000" cy="6057900"/>
          </a:xfrm>
          <a:prstGeom prst="rect">
            <a:avLst/>
          </a:prstGeom>
        </p:spPr>
      </p:pic>
    </p:spTree>
    <p:extLst>
      <p:ext uri="{BB962C8B-B14F-4D97-AF65-F5344CB8AC3E}">
        <p14:creationId xmlns:p14="http://schemas.microsoft.com/office/powerpoint/2010/main" val="34725764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C9D11-921B-88EE-82D6-51A109431FE2}"/>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A118E4E1-72EC-AF9A-8124-9B4E8804C740}"/>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4030205B-7D6B-BEEF-D69B-6A0D6D6144E4}"/>
              </a:ext>
            </a:extLst>
          </p:cNvPr>
          <p:cNvSpPr>
            <a:spLocks noGrp="1"/>
          </p:cNvSpPr>
          <p:nvPr>
            <p:ph type="sldNum" sz="quarter" idx="12"/>
          </p:nvPr>
        </p:nvSpPr>
        <p:spPr/>
        <p:txBody>
          <a:bodyPr/>
          <a:lstStyle/>
          <a:p>
            <a:fld id="{5B1B64FC-C0C6-4D40-9891-AD39CFB51AC3}" type="slidenum">
              <a:rPr lang="en-IN" smtClean="0"/>
              <a:t>40</a:t>
            </a:fld>
            <a:endParaRPr lang="en-IN"/>
          </a:p>
        </p:txBody>
      </p:sp>
      <p:sp>
        <p:nvSpPr>
          <p:cNvPr id="5" name="Title 4">
            <a:extLst>
              <a:ext uri="{FF2B5EF4-FFF2-40B4-BE49-F238E27FC236}">
                <a16:creationId xmlns:a16="http://schemas.microsoft.com/office/drawing/2014/main" id="{E583898E-3FB4-59CE-FDA4-BFD854DA032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Email Notification Feature</a:t>
            </a:r>
          </a:p>
        </p:txBody>
      </p:sp>
      <p:sp>
        <p:nvSpPr>
          <p:cNvPr id="7" name="TextBox 6">
            <a:extLst>
              <a:ext uri="{FF2B5EF4-FFF2-40B4-BE49-F238E27FC236}">
                <a16:creationId xmlns:a16="http://schemas.microsoft.com/office/drawing/2014/main" id="{2EB55E47-A7F8-3138-9C93-B4D15B971FFD}"/>
              </a:ext>
            </a:extLst>
          </p:cNvPr>
          <p:cNvSpPr txBox="1"/>
          <p:nvPr/>
        </p:nvSpPr>
        <p:spPr>
          <a:xfrm>
            <a:off x="314018" y="952500"/>
            <a:ext cx="6100916" cy="5859553"/>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Purpose:</a:t>
            </a:r>
          </a:p>
          <a:p>
            <a:pPr>
              <a:lnSpc>
                <a:spcPct val="150000"/>
              </a:lnSpc>
            </a:pPr>
            <a:r>
              <a:rPr lang="en-IN" dirty="0">
                <a:latin typeface="Times New Roman" panose="02020603050405020304" pitchFamily="18" charset="0"/>
                <a:cs typeface="Times New Roman" panose="02020603050405020304" pitchFamily="18" charset="0"/>
              </a:rPr>
              <a:t>• Automatically notify patients after appointment booking</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Key Features:</a:t>
            </a:r>
          </a:p>
          <a:p>
            <a:pPr>
              <a:lnSpc>
                <a:spcPct val="150000"/>
              </a:lnSpc>
            </a:pPr>
            <a:r>
              <a:rPr lang="en-IN" dirty="0">
                <a:latin typeface="Times New Roman" panose="02020603050405020304" pitchFamily="18" charset="0"/>
                <a:cs typeface="Times New Roman" panose="02020603050405020304" pitchFamily="18" charset="0"/>
              </a:rPr>
              <a:t>• Instant appointment confirmation</a:t>
            </a:r>
          </a:p>
          <a:p>
            <a:pPr>
              <a:lnSpc>
                <a:spcPct val="150000"/>
              </a:lnSpc>
            </a:pPr>
            <a:r>
              <a:rPr lang="en-IN" dirty="0">
                <a:latin typeface="Times New Roman" panose="02020603050405020304" pitchFamily="18" charset="0"/>
                <a:cs typeface="Times New Roman" panose="02020603050405020304" pitchFamily="18" charset="0"/>
              </a:rPr>
              <a:t>• Professional email format</a:t>
            </a:r>
          </a:p>
          <a:p>
            <a:pPr>
              <a:lnSpc>
                <a:spcPct val="150000"/>
              </a:lnSpc>
            </a:pPr>
            <a:r>
              <a:rPr lang="en-IN" dirty="0">
                <a:latin typeface="Times New Roman" panose="02020603050405020304" pitchFamily="18" charset="0"/>
                <a:cs typeface="Times New Roman" panose="02020603050405020304" pitchFamily="18" charset="0"/>
              </a:rPr>
              <a:t>• Includes doctor and appointment details</a:t>
            </a:r>
          </a:p>
          <a:p>
            <a:pPr>
              <a:lnSpc>
                <a:spcPct val="150000"/>
              </a:lnSpc>
            </a:pPr>
            <a:r>
              <a:rPr lang="en-IN" dirty="0">
                <a:latin typeface="Times New Roman" panose="02020603050405020304" pitchFamily="18" charset="0"/>
                <a:cs typeface="Times New Roman" panose="02020603050405020304" pitchFamily="18" charset="0"/>
              </a:rPr>
              <a:t>• Improves patient communication</a:t>
            </a:r>
          </a:p>
          <a:p>
            <a:pPr>
              <a:lnSpc>
                <a:spcPct val="150000"/>
              </a:lnSpc>
            </a:pPr>
            <a:r>
              <a:rPr lang="en-IN" dirty="0">
                <a:latin typeface="Times New Roman" panose="02020603050405020304" pitchFamily="18" charset="0"/>
                <a:cs typeface="Times New Roman" panose="02020603050405020304" pitchFamily="18" charset="0"/>
              </a:rPr>
              <a:t>• Reduces chances of missed appointments</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Technology Used:</a:t>
            </a:r>
          </a:p>
          <a:p>
            <a:pPr>
              <a:lnSpc>
                <a:spcPct val="150000"/>
              </a:lnSpc>
            </a:pPr>
            <a:r>
              <a:rPr lang="en-IN" dirty="0">
                <a:latin typeface="Times New Roman" panose="02020603050405020304" pitchFamily="18" charset="0"/>
                <a:cs typeface="Times New Roman" panose="02020603050405020304" pitchFamily="18" charset="0"/>
              </a:rPr>
              <a:t>• Spring Boot Mail</a:t>
            </a:r>
          </a:p>
          <a:p>
            <a:pPr>
              <a:lnSpc>
                <a:spcPct val="150000"/>
              </a:lnSpc>
            </a:pPr>
            <a:r>
              <a:rPr lang="en-IN" dirty="0">
                <a:latin typeface="Times New Roman" panose="02020603050405020304" pitchFamily="18" charset="0"/>
                <a:cs typeface="Times New Roman" panose="02020603050405020304" pitchFamily="18" charset="0"/>
              </a:rPr>
              <a:t>• Gmail SMTP</a:t>
            </a:r>
          </a:p>
          <a:p>
            <a:pPr>
              <a:lnSpc>
                <a:spcPct val="150000"/>
              </a:lnSpc>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JavaMailSender</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547D10E4-567C-BAA2-29DD-467101912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4850" y="1070948"/>
            <a:ext cx="1695450" cy="5787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629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2B1243-B0B2-B092-8D6E-9727C42771DD}"/>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73F31CA6-5825-3A27-540D-7D5CB8803531}"/>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F6E18793-0D6C-EB83-D2F9-F7B81F40AC38}"/>
              </a:ext>
            </a:extLst>
          </p:cNvPr>
          <p:cNvSpPr>
            <a:spLocks noGrp="1"/>
          </p:cNvSpPr>
          <p:nvPr>
            <p:ph type="sldNum" sz="quarter" idx="12"/>
          </p:nvPr>
        </p:nvSpPr>
        <p:spPr/>
        <p:txBody>
          <a:bodyPr/>
          <a:lstStyle/>
          <a:p>
            <a:fld id="{5B1B64FC-C0C6-4D40-9891-AD39CFB51AC3}" type="slidenum">
              <a:rPr lang="en-IN" smtClean="0"/>
              <a:t>41</a:t>
            </a:fld>
            <a:endParaRPr lang="en-IN"/>
          </a:p>
        </p:txBody>
      </p:sp>
      <p:sp>
        <p:nvSpPr>
          <p:cNvPr id="5" name="Title 4">
            <a:extLst>
              <a:ext uri="{FF2B5EF4-FFF2-40B4-BE49-F238E27FC236}">
                <a16:creationId xmlns:a16="http://schemas.microsoft.com/office/drawing/2014/main" id="{B2324F59-EA5F-DCE1-A523-F8CB43BCF21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Email Notification Implementation</a:t>
            </a:r>
          </a:p>
        </p:txBody>
      </p:sp>
      <p:sp>
        <p:nvSpPr>
          <p:cNvPr id="7" name="TextBox 6">
            <a:extLst>
              <a:ext uri="{FF2B5EF4-FFF2-40B4-BE49-F238E27FC236}">
                <a16:creationId xmlns:a16="http://schemas.microsoft.com/office/drawing/2014/main" id="{83D99234-D4E0-E820-47DB-A62CECD27BBE}"/>
              </a:ext>
            </a:extLst>
          </p:cNvPr>
          <p:cNvSpPr txBox="1"/>
          <p:nvPr/>
        </p:nvSpPr>
        <p:spPr>
          <a:xfrm>
            <a:off x="3714750" y="952500"/>
            <a:ext cx="6101080" cy="4613058"/>
          </a:xfrm>
          <a:prstGeom prst="rect">
            <a:avLst/>
          </a:prstGeom>
          <a:noFill/>
        </p:spPr>
        <p:txBody>
          <a:bodyPr wrap="square">
            <a:spAutoFit/>
          </a:bodyPr>
          <a:lstStyle/>
          <a:p>
            <a:pPr>
              <a:lnSpc>
                <a:spcPct val="150000"/>
              </a:lnSpc>
            </a:pPr>
            <a:r>
              <a:rPr lang="en-IN" dirty="0">
                <a:latin typeface="Times New Roman" panose="02020603050405020304" pitchFamily="18" charset="0"/>
                <a:cs typeface="Times New Roman" panose="02020603050405020304" pitchFamily="18" charset="0"/>
              </a:rPr>
              <a:t>Implementation Steps</a:t>
            </a:r>
          </a:p>
          <a:p>
            <a:pPr>
              <a:lnSpc>
                <a:spcPct val="150000"/>
              </a:lnSpc>
            </a:pPr>
            <a:r>
              <a:rPr lang="en-IN" dirty="0">
                <a:latin typeface="Times New Roman" panose="02020603050405020304" pitchFamily="18" charset="0"/>
                <a:cs typeface="Times New Roman" panose="02020603050405020304" pitchFamily="18" charset="0"/>
              </a:rPr>
              <a:t>1. Added Spring Boot Mail Dependency</a:t>
            </a:r>
          </a:p>
          <a:p>
            <a:pPr>
              <a:lnSpc>
                <a:spcPct val="150000"/>
              </a:lnSpc>
            </a:pPr>
            <a:r>
              <a:rPr lang="en-IN" dirty="0">
                <a:latin typeface="Times New Roman" panose="02020603050405020304" pitchFamily="18" charset="0"/>
                <a:cs typeface="Times New Roman" panose="02020603050405020304" pitchFamily="18" charset="0"/>
              </a:rPr>
              <a:t>2. Added Email Field in User Entity</a:t>
            </a:r>
          </a:p>
          <a:p>
            <a:pPr>
              <a:lnSpc>
                <a:spcPct val="150000"/>
              </a:lnSpc>
            </a:pPr>
            <a:r>
              <a:rPr lang="en-IN" dirty="0">
                <a:latin typeface="Times New Roman" panose="02020603050405020304" pitchFamily="18" charset="0"/>
                <a:cs typeface="Times New Roman" panose="02020603050405020304" pitchFamily="18" charset="0"/>
              </a:rPr>
              <a:t>3. Updated Registration Form</a:t>
            </a:r>
          </a:p>
          <a:p>
            <a:pPr>
              <a:lnSpc>
                <a:spcPct val="150000"/>
              </a:lnSpc>
            </a:pPr>
            <a:r>
              <a:rPr lang="en-IN" dirty="0">
                <a:latin typeface="Times New Roman" panose="02020603050405020304" pitchFamily="18" charset="0"/>
                <a:cs typeface="Times New Roman" panose="02020603050405020304" pitchFamily="18" charset="0"/>
              </a:rPr>
              <a:t>4. </a:t>
            </a:r>
            <a:r>
              <a:rPr lang="en-IN">
                <a:latin typeface="Times New Roman" panose="02020603050405020304" pitchFamily="18" charset="0"/>
                <a:cs typeface="Times New Roman" panose="02020603050405020304" pitchFamily="18" charset="0"/>
              </a:rPr>
              <a:t>Updated Controller</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5. Configured Gmail SMTP</a:t>
            </a:r>
          </a:p>
          <a:p>
            <a:pPr>
              <a:lnSpc>
                <a:spcPct val="150000"/>
              </a:lnSpc>
            </a:pPr>
            <a:r>
              <a:rPr lang="en-IN" dirty="0">
                <a:latin typeface="Times New Roman" panose="02020603050405020304" pitchFamily="18" charset="0"/>
                <a:cs typeface="Times New Roman" panose="02020603050405020304" pitchFamily="18" charset="0"/>
              </a:rPr>
              <a:t>6. Generated Google App Password</a:t>
            </a:r>
          </a:p>
          <a:p>
            <a:pPr>
              <a:lnSpc>
                <a:spcPct val="150000"/>
              </a:lnSpc>
            </a:pPr>
            <a:r>
              <a:rPr lang="en-IN" dirty="0">
                <a:latin typeface="Times New Roman" panose="02020603050405020304" pitchFamily="18" charset="0"/>
                <a:cs typeface="Times New Roman" panose="02020603050405020304" pitchFamily="18" charset="0"/>
              </a:rPr>
              <a:t>7. Created </a:t>
            </a:r>
            <a:r>
              <a:rPr lang="en-IN" dirty="0" err="1">
                <a:latin typeface="Times New Roman" panose="02020603050405020304" pitchFamily="18" charset="0"/>
                <a:cs typeface="Times New Roman" panose="02020603050405020304" pitchFamily="18" charset="0"/>
              </a:rPr>
              <a:t>EmailService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8. Integrated </a:t>
            </a:r>
            <a:r>
              <a:rPr lang="en-IN" dirty="0" err="1">
                <a:latin typeface="Times New Roman" panose="02020603050405020304" pitchFamily="18" charset="0"/>
                <a:cs typeface="Times New Roman" panose="02020603050405020304" pitchFamily="18" charset="0"/>
              </a:rPr>
              <a:t>EmailService</a:t>
            </a:r>
            <a:r>
              <a:rPr lang="en-IN" dirty="0">
                <a:latin typeface="Times New Roman" panose="02020603050405020304" pitchFamily="18" charset="0"/>
                <a:cs typeface="Times New Roman" panose="02020603050405020304" pitchFamily="18" charset="0"/>
              </a:rPr>
              <a:t> with </a:t>
            </a:r>
            <a:r>
              <a:rPr lang="en-IN" dirty="0" err="1">
                <a:latin typeface="Times New Roman" panose="02020603050405020304" pitchFamily="18" charset="0"/>
                <a:cs typeface="Times New Roman" panose="02020603050405020304" pitchFamily="18" charset="0"/>
              </a:rPr>
              <a:t>AppointmentService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9. Generated Professional Email Template</a:t>
            </a:r>
          </a:p>
          <a:p>
            <a:pPr>
              <a:lnSpc>
                <a:spcPct val="150000"/>
              </a:lnSpc>
            </a:pPr>
            <a:r>
              <a:rPr lang="en-IN" dirty="0">
                <a:latin typeface="Times New Roman" panose="02020603050405020304" pitchFamily="18" charset="0"/>
                <a:cs typeface="Times New Roman" panose="02020603050405020304" pitchFamily="18" charset="0"/>
              </a:rPr>
              <a:t>10. Automated Email Sending</a:t>
            </a:r>
          </a:p>
        </p:txBody>
      </p:sp>
    </p:spTree>
    <p:extLst>
      <p:ext uri="{BB962C8B-B14F-4D97-AF65-F5344CB8AC3E}">
        <p14:creationId xmlns:p14="http://schemas.microsoft.com/office/powerpoint/2010/main" val="7133464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DC9CA5-19ED-8022-FB3A-977CED4E9761}"/>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35D635BC-48A7-ECCD-6DDF-411F5B141568}"/>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7D1AB43F-2A1B-C7E0-0553-FE5861976A84}"/>
              </a:ext>
            </a:extLst>
          </p:cNvPr>
          <p:cNvSpPr>
            <a:spLocks noGrp="1"/>
          </p:cNvSpPr>
          <p:nvPr>
            <p:ph type="sldNum" sz="quarter" idx="12"/>
          </p:nvPr>
        </p:nvSpPr>
        <p:spPr/>
        <p:txBody>
          <a:bodyPr/>
          <a:lstStyle/>
          <a:p>
            <a:fld id="{5B1B64FC-C0C6-4D40-9891-AD39CFB51AC3}" type="slidenum">
              <a:rPr lang="en-IN" smtClean="0"/>
              <a:t>42</a:t>
            </a:fld>
            <a:endParaRPr lang="en-IN"/>
          </a:p>
        </p:txBody>
      </p:sp>
      <p:sp>
        <p:nvSpPr>
          <p:cNvPr id="5" name="Title 4">
            <a:extLst>
              <a:ext uri="{FF2B5EF4-FFF2-40B4-BE49-F238E27FC236}">
                <a16:creationId xmlns:a16="http://schemas.microsoft.com/office/drawing/2014/main" id="{ED3C33E6-FD55-F861-764C-327F9A2B0AC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Appointment Confirmation Email</a:t>
            </a:r>
          </a:p>
        </p:txBody>
      </p:sp>
      <p:pic>
        <p:nvPicPr>
          <p:cNvPr id="7" name="Picture 6">
            <a:extLst>
              <a:ext uri="{FF2B5EF4-FFF2-40B4-BE49-F238E27FC236}">
                <a16:creationId xmlns:a16="http://schemas.microsoft.com/office/drawing/2014/main" id="{FF5B8DDF-8360-3B67-8C98-88D07B40BB33}"/>
              </a:ext>
            </a:extLst>
          </p:cNvPr>
          <p:cNvPicPr>
            <a:picLocks noChangeAspect="1"/>
          </p:cNvPicPr>
          <p:nvPr/>
        </p:nvPicPr>
        <p:blipFill>
          <a:blip r:embed="rId2"/>
          <a:stretch>
            <a:fillRect/>
          </a:stretch>
        </p:blipFill>
        <p:spPr>
          <a:xfrm>
            <a:off x="4009158" y="1124558"/>
            <a:ext cx="4767812" cy="5433403"/>
          </a:xfrm>
          <a:prstGeom prst="rect">
            <a:avLst/>
          </a:prstGeom>
        </p:spPr>
      </p:pic>
    </p:spTree>
    <p:extLst>
      <p:ext uri="{BB962C8B-B14F-4D97-AF65-F5344CB8AC3E}">
        <p14:creationId xmlns:p14="http://schemas.microsoft.com/office/powerpoint/2010/main" val="24649237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3BB96-3580-112D-EB3E-24F8A7A2F7E9}"/>
              </a:ext>
            </a:extLst>
          </p:cNvPr>
          <p:cNvSpPr>
            <a:spLocks noGrp="1"/>
          </p:cNvSpPr>
          <p:nvPr>
            <p:ph type="dt" sz="half" idx="10"/>
          </p:nvPr>
        </p:nvSpPr>
        <p:spPr/>
        <p:txBody>
          <a:bodyPr/>
          <a:lstStyle/>
          <a:p>
            <a:fld id="{3FD04DAC-1129-4C4A-8B70-D69B30683A24}" type="datetime1">
              <a:rPr lang="en-IN" smtClean="0"/>
              <a:t>11-06-2026</a:t>
            </a:fld>
            <a:endParaRPr lang="en-IN"/>
          </a:p>
        </p:txBody>
      </p:sp>
      <p:sp>
        <p:nvSpPr>
          <p:cNvPr id="3" name="Footer Placeholder 2">
            <a:extLst>
              <a:ext uri="{FF2B5EF4-FFF2-40B4-BE49-F238E27FC236}">
                <a16:creationId xmlns:a16="http://schemas.microsoft.com/office/drawing/2014/main" id="{E671C5B5-C93E-1FE1-72AA-31A27D9E8097}"/>
              </a:ext>
            </a:extLst>
          </p:cNvPr>
          <p:cNvSpPr>
            <a:spLocks noGrp="1"/>
          </p:cNvSpPr>
          <p:nvPr>
            <p:ph type="ftr" sz="quarter" idx="11"/>
          </p:nvPr>
        </p:nvSpPr>
        <p:spPr/>
        <p:txBody>
          <a:bodyPr/>
          <a:lstStyle/>
          <a:p>
            <a:r>
              <a:rPr lang="en-IN"/>
              <a:t>SCTR’s PICT, Pune</a:t>
            </a:r>
            <a:endParaRPr lang="en-IN" dirty="0"/>
          </a:p>
        </p:txBody>
      </p:sp>
      <p:sp>
        <p:nvSpPr>
          <p:cNvPr id="4" name="Slide Number Placeholder 3">
            <a:extLst>
              <a:ext uri="{FF2B5EF4-FFF2-40B4-BE49-F238E27FC236}">
                <a16:creationId xmlns:a16="http://schemas.microsoft.com/office/drawing/2014/main" id="{9523923A-4EEA-3252-CCDB-5FB74BCC87BC}"/>
              </a:ext>
            </a:extLst>
          </p:cNvPr>
          <p:cNvSpPr>
            <a:spLocks noGrp="1"/>
          </p:cNvSpPr>
          <p:nvPr>
            <p:ph type="sldNum" sz="quarter" idx="12"/>
          </p:nvPr>
        </p:nvSpPr>
        <p:spPr/>
        <p:txBody>
          <a:bodyPr/>
          <a:lstStyle/>
          <a:p>
            <a:fld id="{5B1B64FC-C0C6-4D40-9891-AD39CFB51AC3}" type="slidenum">
              <a:rPr lang="en-IN" smtClean="0"/>
              <a:t>43</a:t>
            </a:fld>
            <a:endParaRPr lang="en-IN"/>
          </a:p>
        </p:txBody>
      </p:sp>
      <p:sp>
        <p:nvSpPr>
          <p:cNvPr id="5" name="Title 4">
            <a:extLst>
              <a:ext uri="{FF2B5EF4-FFF2-40B4-BE49-F238E27FC236}">
                <a16:creationId xmlns:a16="http://schemas.microsoft.com/office/drawing/2014/main" id="{0B7C0410-C57F-D04C-913C-BD27BB9D21C2}"/>
              </a:ext>
            </a:extLst>
          </p:cNvPr>
          <p:cNvSpPr>
            <a:spLocks noGrp="1"/>
          </p:cNvSpPr>
          <p:nvPr>
            <p:ph type="title"/>
          </p:nvPr>
        </p:nvSpPr>
        <p:spPr/>
        <p:txBody>
          <a:bodyPr/>
          <a:lstStyle/>
          <a:p>
            <a:r>
              <a:rPr lang="en-IN" dirty="0"/>
              <a:t>Project Achievements</a:t>
            </a:r>
          </a:p>
        </p:txBody>
      </p:sp>
      <p:sp>
        <p:nvSpPr>
          <p:cNvPr id="7" name="TextBox 6">
            <a:extLst>
              <a:ext uri="{FF2B5EF4-FFF2-40B4-BE49-F238E27FC236}">
                <a16:creationId xmlns:a16="http://schemas.microsoft.com/office/drawing/2014/main" id="{B8987D79-5584-621D-9F41-43BCF54BF194}"/>
              </a:ext>
            </a:extLst>
          </p:cNvPr>
          <p:cNvSpPr txBox="1"/>
          <p:nvPr/>
        </p:nvSpPr>
        <p:spPr>
          <a:xfrm>
            <a:off x="3954780" y="1377018"/>
            <a:ext cx="6101080" cy="3885551"/>
          </a:xfrm>
          <a:prstGeom prst="rect">
            <a:avLst/>
          </a:prstGeom>
          <a:noFill/>
        </p:spPr>
        <p:txBody>
          <a:bodyPr wrap="square">
            <a:spAutoFit/>
          </a:bodyPr>
          <a:lstStyle/>
          <a:p>
            <a:pPr>
              <a:lnSpc>
                <a:spcPct val="200000"/>
              </a:lnSpc>
            </a:pPr>
            <a:r>
              <a:rPr lang="en-IN" dirty="0">
                <a:latin typeface="Times New Roman" panose="02020603050405020304" pitchFamily="18" charset="0"/>
                <a:cs typeface="Times New Roman" panose="02020603050405020304" pitchFamily="18" charset="0"/>
              </a:rPr>
              <a:t>✔ Disease Prediction using Naive Bayes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Online Appointment Booking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Role-Based Authentication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Cloud Deployment on Render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Railway MySQL Integration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Docker Containerization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Email Notification System</a:t>
            </a:r>
          </a:p>
        </p:txBody>
      </p:sp>
    </p:spTree>
    <p:extLst>
      <p:ext uri="{BB962C8B-B14F-4D97-AF65-F5344CB8AC3E}">
        <p14:creationId xmlns:p14="http://schemas.microsoft.com/office/powerpoint/2010/main" val="4189174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F3F277-1C2E-051D-7BA6-0DE65E971E83}"/>
              </a:ext>
            </a:extLst>
          </p:cNvPr>
          <p:cNvSpPr>
            <a:spLocks noGrp="1"/>
          </p:cNvSpPr>
          <p:nvPr>
            <p:ph type="dt" sz="half" idx="10"/>
          </p:nvPr>
        </p:nvSpPr>
        <p:spPr/>
        <p:txBody>
          <a:bodyPr/>
          <a:lstStyle/>
          <a:p>
            <a:fld id="{3FD04DAC-1129-4C4A-8B70-D69B30683A24}" type="datetime1">
              <a:rPr lang="en-IN" smtClean="0">
                <a:latin typeface="Times New Roman" panose="02020603050405020304" pitchFamily="18" charset="0"/>
                <a:cs typeface="Times New Roman" panose="02020603050405020304" pitchFamily="18" charset="0"/>
              </a:rPr>
              <a:t>11-06-2026</a:t>
            </a:fld>
            <a:endParaRPr lang="en-IN">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2155EE5-B21C-A8B1-B839-FF71E196CE68}"/>
              </a:ext>
            </a:extLst>
          </p:cNvPr>
          <p:cNvSpPr>
            <a:spLocks noGrp="1"/>
          </p:cNvSpPr>
          <p:nvPr>
            <p:ph type="ftr" sz="quarter" idx="11"/>
          </p:nvPr>
        </p:nvSpPr>
        <p:spPr/>
        <p:txBody>
          <a:bodyPr/>
          <a:lstStyle/>
          <a:p>
            <a:r>
              <a:rPr lang="en-IN">
                <a:latin typeface="Times New Roman" panose="02020603050405020304" pitchFamily="18" charset="0"/>
                <a:cs typeface="Times New Roman" panose="02020603050405020304" pitchFamily="18" charset="0"/>
              </a:rPr>
              <a:t>SCTR’s PICT, Pune</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39E049D-E1FB-25B8-FB91-D30F10F587B0}"/>
              </a:ext>
            </a:extLst>
          </p:cNvPr>
          <p:cNvSpPr>
            <a:spLocks noGrp="1"/>
          </p:cNvSpPr>
          <p:nvPr>
            <p:ph type="sldNum" sz="quarter" idx="12"/>
          </p:nvPr>
        </p:nvSpPr>
        <p:spPr/>
        <p:txBody>
          <a:bodyPr/>
          <a:lstStyle/>
          <a:p>
            <a:fld id="{5B1B64FC-C0C6-4D40-9891-AD39CFB51AC3}" type="slidenum">
              <a:rPr lang="en-IN" smtClean="0">
                <a:latin typeface="Times New Roman" panose="02020603050405020304" pitchFamily="18" charset="0"/>
                <a:cs typeface="Times New Roman" panose="02020603050405020304" pitchFamily="18" charset="0"/>
              </a:rPr>
              <a:t>44</a:t>
            </a:fld>
            <a:endParaRPr lang="en-IN">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71A45900-E65D-D9F3-1772-A7A3908BD78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Future Scope</a:t>
            </a:r>
          </a:p>
        </p:txBody>
      </p:sp>
      <p:sp>
        <p:nvSpPr>
          <p:cNvPr id="7" name="TextBox 6">
            <a:extLst>
              <a:ext uri="{FF2B5EF4-FFF2-40B4-BE49-F238E27FC236}">
                <a16:creationId xmlns:a16="http://schemas.microsoft.com/office/drawing/2014/main" id="{49517E96-EB72-98AC-C72F-71394036587B}"/>
              </a:ext>
            </a:extLst>
          </p:cNvPr>
          <p:cNvSpPr txBox="1"/>
          <p:nvPr/>
        </p:nvSpPr>
        <p:spPr>
          <a:xfrm>
            <a:off x="166370" y="1169015"/>
            <a:ext cx="6101080" cy="1015663"/>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1).Real-Time Clinical Dataset Integration</a:t>
            </a:r>
          </a:p>
          <a:p>
            <a:r>
              <a:rPr lang="en-US" sz="2000" dirty="0">
                <a:latin typeface="Times New Roman" panose="02020603050405020304" pitchFamily="18" charset="0"/>
                <a:cs typeface="Times New Roman" panose="02020603050405020304" pitchFamily="18" charset="0"/>
              </a:rPr>
              <a:t>     Train the model using real hospital patient records</a:t>
            </a:r>
          </a:p>
          <a:p>
            <a:r>
              <a:rPr lang="en-US" sz="2000" dirty="0">
                <a:latin typeface="Times New Roman" panose="02020603050405020304" pitchFamily="18" charset="0"/>
                <a:cs typeface="Times New Roman" panose="02020603050405020304" pitchFamily="18" charset="0"/>
              </a:rPr>
              <a:t>     Improve prediction accuracy and reliability</a:t>
            </a:r>
          </a:p>
        </p:txBody>
      </p:sp>
      <p:sp>
        <p:nvSpPr>
          <p:cNvPr id="9" name="TextBox 8">
            <a:extLst>
              <a:ext uri="{FF2B5EF4-FFF2-40B4-BE49-F238E27FC236}">
                <a16:creationId xmlns:a16="http://schemas.microsoft.com/office/drawing/2014/main" id="{2295AE75-54C3-6091-CEC7-3B657D26CBC6}"/>
              </a:ext>
            </a:extLst>
          </p:cNvPr>
          <p:cNvSpPr txBox="1"/>
          <p:nvPr/>
        </p:nvSpPr>
        <p:spPr>
          <a:xfrm>
            <a:off x="166370" y="2301912"/>
            <a:ext cx="6101080" cy="707886"/>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2).Cloud Deployment</a:t>
            </a:r>
          </a:p>
          <a:p>
            <a:pPr>
              <a:buNone/>
            </a:pPr>
            <a:r>
              <a:rPr lang="en-US" sz="2000" b="1" dirty="0">
                <a:latin typeface="Times New Roman" panose="02020603050405020304" pitchFamily="18" charset="0"/>
                <a:cs typeface="Times New Roman" panose="02020603050405020304" pitchFamily="18" charset="0"/>
              </a:rPr>
              <a:t>   </a:t>
            </a:r>
          </a:p>
        </p:txBody>
      </p:sp>
      <p:sp>
        <p:nvSpPr>
          <p:cNvPr id="11" name="TextBox 10">
            <a:extLst>
              <a:ext uri="{FF2B5EF4-FFF2-40B4-BE49-F238E27FC236}">
                <a16:creationId xmlns:a16="http://schemas.microsoft.com/office/drawing/2014/main" id="{F7665964-0D84-9E07-B4EB-42772E71EF28}"/>
              </a:ext>
            </a:extLst>
          </p:cNvPr>
          <p:cNvSpPr txBox="1"/>
          <p:nvPr/>
        </p:nvSpPr>
        <p:spPr>
          <a:xfrm>
            <a:off x="166370" y="3772207"/>
            <a:ext cx="6101080" cy="1015663"/>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3).Online Payment Integration</a:t>
            </a:r>
          </a:p>
          <a:p>
            <a:r>
              <a:rPr lang="en-US" sz="2000" dirty="0">
                <a:latin typeface="Times New Roman" panose="02020603050405020304" pitchFamily="18" charset="0"/>
                <a:cs typeface="Times New Roman" panose="02020603050405020304" pitchFamily="18" charset="0"/>
              </a:rPr>
              <a:t>     Add secure payment gateway for appointment booking</a:t>
            </a:r>
          </a:p>
          <a:p>
            <a:r>
              <a:rPr lang="en-US" sz="2000" dirty="0">
                <a:latin typeface="Times New Roman" panose="02020603050405020304" pitchFamily="18" charset="0"/>
                <a:cs typeface="Times New Roman" panose="02020603050405020304" pitchFamily="18" charset="0"/>
              </a:rPr>
              <a:t>     Enable digital billing and transaction records</a:t>
            </a:r>
          </a:p>
        </p:txBody>
      </p:sp>
      <p:sp>
        <p:nvSpPr>
          <p:cNvPr id="13" name="TextBox 12">
            <a:extLst>
              <a:ext uri="{FF2B5EF4-FFF2-40B4-BE49-F238E27FC236}">
                <a16:creationId xmlns:a16="http://schemas.microsoft.com/office/drawing/2014/main" id="{EE5A6B06-BED9-CA84-EBB2-E7320F86F538}"/>
              </a:ext>
            </a:extLst>
          </p:cNvPr>
          <p:cNvSpPr txBox="1"/>
          <p:nvPr/>
        </p:nvSpPr>
        <p:spPr>
          <a:xfrm>
            <a:off x="166370" y="4888558"/>
            <a:ext cx="6101080" cy="1015663"/>
          </a:xfrm>
          <a:prstGeom prst="rect">
            <a:avLst/>
          </a:prstGeom>
          <a:noFill/>
        </p:spPr>
        <p:txBody>
          <a:bodyPr wrap="square">
            <a:spAutoFit/>
          </a:bodyPr>
          <a:lstStyle/>
          <a:p>
            <a:pPr>
              <a:buNone/>
            </a:pPr>
            <a:r>
              <a:rPr lang="en-IN" sz="2000" b="1" dirty="0">
                <a:latin typeface="Times New Roman" panose="02020603050405020304" pitchFamily="18" charset="0"/>
                <a:cs typeface="Times New Roman" panose="02020603050405020304" pitchFamily="18" charset="0"/>
              </a:rPr>
              <a:t>4).Telemedicine Integration</a:t>
            </a:r>
          </a:p>
          <a:p>
            <a:r>
              <a:rPr lang="en-IN" sz="2000" dirty="0">
                <a:latin typeface="Times New Roman" panose="02020603050405020304" pitchFamily="18" charset="0"/>
                <a:cs typeface="Times New Roman" panose="02020603050405020304" pitchFamily="18" charset="0"/>
              </a:rPr>
              <a:t>    Video consultation feature</a:t>
            </a:r>
          </a:p>
          <a:p>
            <a:r>
              <a:rPr lang="en-IN" sz="2000" dirty="0">
                <a:latin typeface="Times New Roman" panose="02020603050405020304" pitchFamily="18" charset="0"/>
                <a:cs typeface="Times New Roman" panose="02020603050405020304" pitchFamily="18" charset="0"/>
              </a:rPr>
              <a:t>    Online prescription management</a:t>
            </a:r>
          </a:p>
        </p:txBody>
      </p:sp>
      <p:sp>
        <p:nvSpPr>
          <p:cNvPr id="10" name="Rectangle 3">
            <a:extLst>
              <a:ext uri="{FF2B5EF4-FFF2-40B4-BE49-F238E27FC236}">
                <a16:creationId xmlns:a16="http://schemas.microsoft.com/office/drawing/2014/main" id="{B787D0BA-C3EB-B260-6406-3075C21342A5}"/>
              </a:ext>
            </a:extLst>
          </p:cNvPr>
          <p:cNvSpPr>
            <a:spLocks noChangeArrowheads="1"/>
          </p:cNvSpPr>
          <p:nvPr/>
        </p:nvSpPr>
        <p:spPr bwMode="auto">
          <a:xfrm rot="10800000" flipV="1">
            <a:off x="500831" y="2363028"/>
            <a:ext cx="11788877"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Migration to AWS/Azure/GCP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Kubernetes-based deployment  </a:t>
            </a:r>
          </a:p>
        </p:txBody>
      </p:sp>
    </p:spTree>
    <p:extLst>
      <p:ext uri="{BB962C8B-B14F-4D97-AF65-F5344CB8AC3E}">
        <p14:creationId xmlns:p14="http://schemas.microsoft.com/office/powerpoint/2010/main" val="1646730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BC56-38E4-3C00-1434-2B1A04A2D684}"/>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Conclusion</a:t>
            </a:r>
          </a:p>
        </p:txBody>
      </p:sp>
      <p:sp>
        <p:nvSpPr>
          <p:cNvPr id="3" name="Date Placeholder 2">
            <a:extLst>
              <a:ext uri="{FF2B5EF4-FFF2-40B4-BE49-F238E27FC236}">
                <a16:creationId xmlns:a16="http://schemas.microsoft.com/office/drawing/2014/main" id="{27BB2DC0-E336-E281-6A1D-F3D4FDEC92D9}"/>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8F63951D-0EA5-B9F4-0E6F-6D76E6FDF401}"/>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F0E78EC6-23DF-C238-A631-CCB5720621DC}"/>
              </a:ext>
            </a:extLst>
          </p:cNvPr>
          <p:cNvSpPr>
            <a:spLocks noGrp="1"/>
          </p:cNvSpPr>
          <p:nvPr>
            <p:ph type="sldNum" sz="quarter" idx="12"/>
          </p:nvPr>
        </p:nvSpPr>
        <p:spPr/>
        <p:txBody>
          <a:bodyPr/>
          <a:lstStyle/>
          <a:p>
            <a:fld id="{5B1B64FC-C0C6-4D40-9891-AD39CFB51AC3}" type="slidenum">
              <a:rPr lang="en-IN" smtClean="0"/>
              <a:t>45</a:t>
            </a:fld>
            <a:endParaRPr lang="en-IN"/>
          </a:p>
        </p:txBody>
      </p:sp>
      <p:sp>
        <p:nvSpPr>
          <p:cNvPr id="7" name="TextBox 6">
            <a:extLst>
              <a:ext uri="{FF2B5EF4-FFF2-40B4-BE49-F238E27FC236}">
                <a16:creationId xmlns:a16="http://schemas.microsoft.com/office/drawing/2014/main" id="{176E00E6-5DA2-344F-C842-46D8233452D6}"/>
              </a:ext>
            </a:extLst>
          </p:cNvPr>
          <p:cNvSpPr txBox="1"/>
          <p:nvPr/>
        </p:nvSpPr>
        <p:spPr>
          <a:xfrm>
            <a:off x="101600" y="1581953"/>
            <a:ext cx="11836400" cy="193899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Clinic Management System integrates machine learning and web technologies to improve healthcare services. It enables early disease prediction and provides suitable doctor recommendations. The system also offers efficient online appointment booking with slot management. Overall, it delivers a smart, user-friendly, and time-saving solution for clinic management.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6109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B41C0-D347-69B4-00B9-CE9B52B5669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 </a:t>
            </a:r>
            <a:endParaRPr lang="en-US"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56A0CF2-9095-B99F-8FBB-B0914B6480DC}"/>
              </a:ext>
            </a:extLst>
          </p:cNvPr>
          <p:cNvSpPr>
            <a:spLocks noGrp="1"/>
          </p:cNvSpPr>
          <p:nvPr>
            <p:ph type="dt" sz="half" idx="10"/>
          </p:nvPr>
        </p:nvSpPr>
        <p:spPr/>
        <p:txBody>
          <a:bodyPr/>
          <a:lstStyle/>
          <a:p>
            <a:fld id="{8ACD3BDA-3872-4205-88A1-8BC53D2CB689}" type="datetime1">
              <a:rPr lang="en-IN" smtClean="0"/>
              <a:t>11-06-2026</a:t>
            </a:fld>
            <a:endParaRPr lang="en-IN"/>
          </a:p>
        </p:txBody>
      </p:sp>
      <p:sp>
        <p:nvSpPr>
          <p:cNvPr id="4" name="Footer Placeholder 3">
            <a:extLst>
              <a:ext uri="{FF2B5EF4-FFF2-40B4-BE49-F238E27FC236}">
                <a16:creationId xmlns:a16="http://schemas.microsoft.com/office/drawing/2014/main" id="{AF035D4D-C31C-5782-A005-502832D8B5B4}"/>
              </a:ext>
            </a:extLst>
          </p:cNvPr>
          <p:cNvSpPr>
            <a:spLocks noGrp="1"/>
          </p:cNvSpPr>
          <p:nvPr>
            <p:ph type="ftr" sz="quarter" idx="11"/>
          </p:nvPr>
        </p:nvSpPr>
        <p:spPr/>
        <p:txBody>
          <a:bodyPr/>
          <a:lstStyle/>
          <a:p>
            <a:r>
              <a:rPr lang="en-IN"/>
              <a:t>SCTR’s PICT, Pune</a:t>
            </a:r>
          </a:p>
        </p:txBody>
      </p:sp>
      <p:sp>
        <p:nvSpPr>
          <p:cNvPr id="5" name="Slide Number Placeholder 4">
            <a:extLst>
              <a:ext uri="{FF2B5EF4-FFF2-40B4-BE49-F238E27FC236}">
                <a16:creationId xmlns:a16="http://schemas.microsoft.com/office/drawing/2014/main" id="{027926C9-8E3C-BC95-30D7-44B88EC0390C}"/>
              </a:ext>
            </a:extLst>
          </p:cNvPr>
          <p:cNvSpPr>
            <a:spLocks noGrp="1"/>
          </p:cNvSpPr>
          <p:nvPr>
            <p:ph type="sldNum" sz="quarter" idx="12"/>
          </p:nvPr>
        </p:nvSpPr>
        <p:spPr/>
        <p:txBody>
          <a:bodyPr/>
          <a:lstStyle/>
          <a:p>
            <a:fld id="{5B1B64FC-C0C6-4D40-9891-AD39CFB51AC3}" type="slidenum">
              <a:rPr lang="en-IN" smtClean="0"/>
              <a:t>46</a:t>
            </a:fld>
            <a:endParaRPr lang="en-IN"/>
          </a:p>
        </p:txBody>
      </p:sp>
      <p:sp>
        <p:nvSpPr>
          <p:cNvPr id="6" name="Rectangle 1">
            <a:extLst>
              <a:ext uri="{FF2B5EF4-FFF2-40B4-BE49-F238E27FC236}">
                <a16:creationId xmlns:a16="http://schemas.microsoft.com/office/drawing/2014/main" id="{071B5AC9-F265-E69E-DE9C-B8F7CD0B5C61}"/>
              </a:ext>
            </a:extLst>
          </p:cNvPr>
          <p:cNvSpPr>
            <a:spLocks noChangeArrowheads="1"/>
          </p:cNvSpPr>
          <p:nvPr/>
        </p:nvSpPr>
        <p:spPr bwMode="auto">
          <a:xfrm>
            <a:off x="0" y="962025"/>
            <a:ext cx="12192000" cy="5588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Satija, P. Pahuja, D. Singh, and A. Hussain,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in Medicine: The Impact of Machine Learning on Healthcare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Elsevier, Oct. 2024.</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 Jyothi, A. Lokesh Kumar, and D. Dakshayani, “Disease Prediction Using Naïve Bayes, Random Forest, Decision Tree and KNN Algorithms,” </a:t>
            </a:r>
            <a:r>
              <a:rPr kumimoji="0" lang="en-US" altLang="en-US"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-Manager’s Journal on Computer Science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11, no. 4, pp. 12–20, Jan. 2024.</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Shukla, “Disease Prediction System Using Support Vector Machine and Random Forest Classifiers,”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Innovative Science and Research Technology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 2023.</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ClinicCare</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Manager: An Efficient Electronic Health Record (EHR) and Healthcare Management System Using Spring Boot and React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Jan. 2026.</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 Mendes, “Integration of IoT Health Systems and Hospital Management Using Spring Boot and API Frameworks,”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 Int. Conf. on Artificial Intelligence and Engineering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2025.</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Hossain, M. Rahman, and T. Islam, “Machine Learning Approaches for Multi-Disease Prediction Using Ensemble Techniques,”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Access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12, pp. 45890–45905, 2024.</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 Chen, L. Zhang, and H. Li, “Comparative Analysis of Supervised Learning Algorithms for Healthcare Diagnosis,”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IEEE Trans. on Computational Biology and Bioinformatics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 21, no. 3, pp. 1456–1468, 2024.</a:t>
            </a:r>
          </a:p>
          <a:p>
            <a:pPr marL="342900" marR="0" lvl="0" indent="-342900" algn="l" defTabSz="914400" rtl="0" eaLnBrk="0" fontAlgn="base" latinLnBrk="0" hangingPunct="0">
              <a:lnSpc>
                <a:spcPct val="150000"/>
              </a:lnSpc>
              <a:spcBef>
                <a:spcPct val="0"/>
              </a:spcBef>
              <a:spcAft>
                <a:spcPct val="0"/>
              </a:spcAft>
              <a:buClrTx/>
              <a:buSzTx/>
              <a:buFont typeface="+mj-lt"/>
              <a:buAutoNum type="arabicParen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 K. Sharma and R. Gupta, “Design and Implementation of a Secure Hospital Management System Using Spring Boot and Microservices,” in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 IEEE Int. Conf. on Computing, Communication and Intelligent Systems (ICCCIS)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2023.</a:t>
            </a:r>
          </a:p>
        </p:txBody>
      </p:sp>
    </p:spTree>
    <p:extLst>
      <p:ext uri="{BB962C8B-B14F-4D97-AF65-F5344CB8AC3E}">
        <p14:creationId xmlns:p14="http://schemas.microsoft.com/office/powerpoint/2010/main" val="372076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1207</TotalTime>
  <Words>2104</Words>
  <Application>Microsoft Office PowerPoint</Application>
  <PresentationFormat>Widescreen</PresentationFormat>
  <Paragraphs>510</Paragraphs>
  <Slides>46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Times New Roman</vt:lpstr>
      <vt:lpstr>Office Theme</vt:lpstr>
      <vt:lpstr>Clinic Management System with Disease Prediction and Appointment Booking</vt:lpstr>
      <vt:lpstr>Contents</vt:lpstr>
      <vt:lpstr>Introduction </vt:lpstr>
      <vt:lpstr>Problem Statement and Objectives</vt:lpstr>
      <vt:lpstr>Existing vs Proposed System</vt:lpstr>
      <vt:lpstr>System Architecture diagram</vt:lpstr>
      <vt:lpstr>System Workflow</vt:lpstr>
      <vt:lpstr>Module-wise Explanation</vt:lpstr>
      <vt:lpstr> Dataset Description </vt:lpstr>
      <vt:lpstr>Methodology</vt:lpstr>
      <vt:lpstr>Model Performance Comparison</vt:lpstr>
      <vt:lpstr>Model Performance Comparison</vt:lpstr>
      <vt:lpstr>Model Comparison</vt:lpstr>
      <vt:lpstr>System Implementation</vt:lpstr>
      <vt:lpstr>System Implementation</vt:lpstr>
      <vt:lpstr>Database Design &amp; Relationships</vt:lpstr>
      <vt:lpstr>Database Design &amp; Relationships</vt:lpstr>
      <vt:lpstr>Database &amp; ORM Layer</vt:lpstr>
      <vt:lpstr>System User Interface</vt:lpstr>
      <vt:lpstr>User Dashboard</vt:lpstr>
      <vt:lpstr>Disease Prediction Input</vt:lpstr>
      <vt:lpstr>Disease Prediction Output</vt:lpstr>
      <vt:lpstr>Disease Prediction Output</vt:lpstr>
      <vt:lpstr>Appointment Slot Booking</vt:lpstr>
      <vt:lpstr>Appointment Confirmation / My Appointments</vt:lpstr>
      <vt:lpstr>Doctor Selection Page</vt:lpstr>
      <vt:lpstr>Admin Dashboard</vt:lpstr>
      <vt:lpstr>Add Doctor Page</vt:lpstr>
      <vt:lpstr>View Doctors Page</vt:lpstr>
      <vt:lpstr>Need for Cloud Deployment</vt:lpstr>
      <vt:lpstr>Cloud Platform Comparison</vt:lpstr>
      <vt:lpstr>Cloud Deployment Architecture</vt:lpstr>
      <vt:lpstr>Docker-Based Application Packaging</vt:lpstr>
      <vt:lpstr>Dockerfile</vt:lpstr>
      <vt:lpstr>Version Control Management</vt:lpstr>
      <vt:lpstr>Cloud Database Deployment</vt:lpstr>
      <vt:lpstr>Application Deployment on Render</vt:lpstr>
      <vt:lpstr>Deployment Success</vt:lpstr>
      <vt:lpstr>Live</vt:lpstr>
      <vt:lpstr>Email Notification Feature</vt:lpstr>
      <vt:lpstr>Email Notification Implementation</vt:lpstr>
      <vt:lpstr>Appointment Confirmation Email</vt:lpstr>
      <vt:lpstr>Project Achievements</vt:lpstr>
      <vt:lpstr>Future Scope</vt:lpstr>
      <vt:lpstr>Conclusion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Saurabh</dc:creator>
  <cp:lastModifiedBy>saurabhmapari9922@outlook.com</cp:lastModifiedBy>
  <cp:revision>60</cp:revision>
  <dcterms:modified xsi:type="dcterms:W3CDTF">2026-06-11T03:18:19Z</dcterms:modified>
</cp:coreProperties>
</file>